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9144000" cx="16256000"/>
  <p:notesSz cx="9144000" cy="16256000"/>
  <p:embeddedFontLst>
    <p:embeddedFont>
      <p:font typeface="Liter"/>
      <p:regular r:id="rId11"/>
    </p:embeddedFont>
    <p:embeddedFont>
      <p:font typeface="Quattrocento Sans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jQZ5oGgUMVUgK3ucOg3kVM3VLl7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Liter-regular.fntdata"/><Relationship Id="rId10" Type="http://schemas.openxmlformats.org/officeDocument/2006/relationships/slide" Target="slides/slide6.xml"/><Relationship Id="rId13" Type="http://schemas.openxmlformats.org/officeDocument/2006/relationships/font" Target="fonts/QuattrocentoSans-bold.fntdata"/><Relationship Id="rId12" Type="http://schemas.openxmlformats.org/officeDocument/2006/relationships/font" Target="fonts/QuattrocentoSans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QuattrocentoSans-boldItalic.fntdata"/><Relationship Id="rId14" Type="http://schemas.openxmlformats.org/officeDocument/2006/relationships/font" Target="fonts/QuattrocentoSans-italic.fntdata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PTIST_MASTER">
  <p:cSld name="PPTIST_MASTER"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B4332"/>
            </a:gs>
            <a:gs pos="100000">
              <a:srgbClr val="2D6A4F"/>
            </a:gs>
          </a:gsLst>
          <a:lin ang="8100000" scaled="0"/>
        </a:gra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"/>
          <p:cNvSpPr/>
          <p:nvPr/>
        </p:nvSpPr>
        <p:spPr>
          <a:xfrm>
            <a:off x="13716000" y="0"/>
            <a:ext cx="2540000" cy="2540000"/>
          </a:xfrm>
          <a:prstGeom prst="ellipse">
            <a:avLst/>
          </a:prstGeom>
          <a:solidFill>
            <a:srgbClr val="95D5B2">
              <a:alpha val="125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0" y="6858000"/>
            <a:ext cx="2286000" cy="2286000"/>
          </a:xfrm>
          <a:prstGeom prst="ellipse">
            <a:avLst/>
          </a:prstGeom>
          <a:solidFill>
            <a:srgbClr val="E76F51">
              <a:alpha val="823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6858000" y="2794000"/>
            <a:ext cx="2540000" cy="5080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1778000" y="3175000"/>
            <a:ext cx="127000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00" u="none" cap="none" strike="noStrike">
                <a:solidFill>
                  <a:srgbClr val="FEFAE0"/>
                </a:solidFill>
                <a:latin typeface="Liter"/>
                <a:ea typeface="Liter"/>
                <a:cs typeface="Liter"/>
                <a:sym typeface="Liter"/>
              </a:rPr>
              <a:t>Скенер на етикети</a:t>
            </a:r>
            <a:endParaRPr b="0" i="0" sz="5600" u="none" cap="none" strike="noStrike"/>
          </a:p>
        </p:txBody>
      </p:sp>
      <p:sp>
        <p:nvSpPr>
          <p:cNvPr id="21" name="Google Shape;21;p1"/>
          <p:cNvSpPr/>
          <p:nvPr/>
        </p:nvSpPr>
        <p:spPr>
          <a:xfrm>
            <a:off x="3048000" y="4445000"/>
            <a:ext cx="10160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95D5B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 инструмент за бърза проверка на хранителни съставки</a:t>
            </a:r>
            <a:endParaRPr b="0" i="0" sz="1600" u="none" cap="none" strike="noStrike"/>
          </a:p>
        </p:txBody>
      </p:sp>
      <p:sp>
        <p:nvSpPr>
          <p:cNvPr id="22" name="Google Shape;22;p1"/>
          <p:cNvSpPr/>
          <p:nvPr/>
        </p:nvSpPr>
        <p:spPr>
          <a:xfrm>
            <a:off x="6858000" y="5334000"/>
            <a:ext cx="2540000" cy="5080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4318000" y="787400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279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Изготвил: Радослав Русев 9а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AE0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762000" y="571500"/>
            <a:ext cx="7620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D6A4F"/>
                </a:solidFill>
                <a:latin typeface="Liter"/>
                <a:ea typeface="Liter"/>
                <a:cs typeface="Liter"/>
                <a:sym typeface="Liter"/>
              </a:rPr>
              <a:t>Знаеш ли какво ядеш?</a:t>
            </a:r>
            <a:endParaRPr b="0" i="0" sz="3600" u="none" cap="none" strike="noStrike"/>
          </a:p>
        </p:txBody>
      </p:sp>
      <p:sp>
        <p:nvSpPr>
          <p:cNvPr id="30" name="Google Shape;30;p2"/>
          <p:cNvSpPr/>
          <p:nvPr/>
        </p:nvSpPr>
        <p:spPr>
          <a:xfrm>
            <a:off x="762000" y="1270000"/>
            <a:ext cx="1016000" cy="508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762000" y="1651000"/>
            <a:ext cx="73660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B433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Много храни съдържат </a:t>
            </a:r>
            <a:r>
              <a:rPr b="1" i="0" lang="en-US" sz="2000" u="none" cap="none" strike="noStrike">
                <a:solidFill>
                  <a:srgbClr val="1B433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скрити вредни съставки</a:t>
            </a:r>
            <a:r>
              <a:rPr b="0" i="0" lang="en-US" sz="2000" u="none" cap="none" strike="noStrike">
                <a:solidFill>
                  <a:srgbClr val="1B433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Е-добавки, палмово масло, нитрити и други.</a:t>
            </a:r>
            <a:endParaRPr b="0" i="0" sz="2000" u="none" cap="none" strike="noStrike"/>
          </a:p>
        </p:txBody>
      </p:sp>
      <p:sp>
        <p:nvSpPr>
          <p:cNvPr id="32" name="Google Shape;32;p2"/>
          <p:cNvSpPr/>
          <p:nvPr/>
        </p:nvSpPr>
        <p:spPr>
          <a:xfrm>
            <a:off x="762000" y="2794000"/>
            <a:ext cx="7366000" cy="1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279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Нашият скенер разпознава текста от снимка на етикет и веднага ти казва какво е опасно и с какво можеш да го замениш.</a:t>
            </a:r>
            <a:endParaRPr b="0" i="0" sz="2000" u="none" cap="none" strike="noStrike"/>
          </a:p>
        </p:txBody>
      </p:sp>
      <p:pic>
        <p:nvPicPr>
          <p:cNvPr descr="https://kimi-img.moonshot.cn/pub/slides/okc/qgp7gcoft4u7a/mnt/agents/output/converted/images/image_1.png" id="33" name="Google Shape;33;p2"/>
          <p:cNvPicPr preferRelativeResize="0"/>
          <p:nvPr/>
        </p:nvPicPr>
        <p:blipFill rotWithShape="1">
          <a:blip r:embed="rId3">
            <a:alphaModFix/>
          </a:blip>
          <a:srcRect b="442" l="0" r="0" t="442"/>
          <a:stretch/>
        </p:blipFill>
        <p:spPr>
          <a:xfrm>
            <a:off x="8890000" y="571500"/>
            <a:ext cx="6604000" cy="36830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sp>
        <p:nvSpPr>
          <p:cNvPr id="34" name="Google Shape;34;p2"/>
          <p:cNvSpPr/>
          <p:nvPr/>
        </p:nvSpPr>
        <p:spPr>
          <a:xfrm>
            <a:off x="762000" y="4826000"/>
            <a:ext cx="14732000" cy="1524000"/>
          </a:xfrm>
          <a:prstGeom prst="roundRect">
            <a:avLst>
              <a:gd fmla="val 8000" name="adj"/>
            </a:avLst>
          </a:prstGeom>
          <a:solidFill>
            <a:srgbClr val="E9F5EC"/>
          </a:solidFill>
          <a:ln>
            <a:noFill/>
          </a:ln>
          <a:effectLst>
            <a:outerShdw blurRad="101600" rotWithShape="0" algn="bl" dir="5400000" dist="25400">
              <a:srgbClr val="1B4333">
                <a:alpha val="823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1778000" y="5207000"/>
            <a:ext cx="457200" cy="457200"/>
          </a:xfrm>
          <a:custGeom>
            <a:rect b="b" l="l" r="r" t="t"/>
            <a:pathLst>
              <a:path extrusionOk="0" h="457200" w="457200">
                <a:moveTo>
                  <a:pt x="133142" y="57864"/>
                </a:moveTo>
                <a:lnTo>
                  <a:pt x="123855" y="85725"/>
                </a:lnTo>
                <a:lnTo>
                  <a:pt x="57150" y="85725"/>
                </a:lnTo>
                <a:cubicBezTo>
                  <a:pt x="25628" y="85725"/>
                  <a:pt x="0" y="111353"/>
                  <a:pt x="0" y="142875"/>
                </a:cubicBezTo>
                <a:lnTo>
                  <a:pt x="0" y="371475"/>
                </a:lnTo>
                <a:cubicBezTo>
                  <a:pt x="0" y="402997"/>
                  <a:pt x="25628" y="428625"/>
                  <a:pt x="57150" y="428625"/>
                </a:cubicBezTo>
                <a:lnTo>
                  <a:pt x="400050" y="428625"/>
                </a:lnTo>
                <a:cubicBezTo>
                  <a:pt x="431572" y="428625"/>
                  <a:pt x="457200" y="402997"/>
                  <a:pt x="457200" y="371475"/>
                </a:cubicBezTo>
                <a:lnTo>
                  <a:pt x="457200" y="142875"/>
                </a:lnTo>
                <a:cubicBezTo>
                  <a:pt x="457200" y="111353"/>
                  <a:pt x="431572" y="85725"/>
                  <a:pt x="400050" y="85725"/>
                </a:cubicBezTo>
                <a:lnTo>
                  <a:pt x="333345" y="85725"/>
                </a:lnTo>
                <a:lnTo>
                  <a:pt x="324058" y="57864"/>
                </a:lnTo>
                <a:cubicBezTo>
                  <a:pt x="318254" y="40362"/>
                  <a:pt x="301913" y="28575"/>
                  <a:pt x="283428" y="28575"/>
                </a:cubicBezTo>
                <a:lnTo>
                  <a:pt x="173772" y="28575"/>
                </a:lnTo>
                <a:cubicBezTo>
                  <a:pt x="155287" y="28575"/>
                  <a:pt x="138946" y="40362"/>
                  <a:pt x="133142" y="57864"/>
                </a:cubicBezTo>
                <a:close/>
                <a:moveTo>
                  <a:pt x="228600" y="171450"/>
                </a:moveTo>
                <a:cubicBezTo>
                  <a:pt x="275913" y="171450"/>
                  <a:pt x="314325" y="209862"/>
                  <a:pt x="314325" y="257175"/>
                </a:cubicBezTo>
                <a:cubicBezTo>
                  <a:pt x="314325" y="304488"/>
                  <a:pt x="275913" y="342900"/>
                  <a:pt x="228600" y="342900"/>
                </a:cubicBezTo>
                <a:cubicBezTo>
                  <a:pt x="181287" y="342900"/>
                  <a:pt x="142875" y="304488"/>
                  <a:pt x="142875" y="257175"/>
                </a:cubicBezTo>
                <a:cubicBezTo>
                  <a:pt x="142875" y="209862"/>
                  <a:pt x="181287" y="171450"/>
                  <a:pt x="228600" y="171450"/>
                </a:cubicBezTo>
                <a:close/>
              </a:path>
            </a:pathLst>
          </a:custGeom>
          <a:solidFill>
            <a:srgbClr val="2D6A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1397000" y="5740400"/>
            <a:ext cx="127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B433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Снимаш</a:t>
            </a:r>
            <a:endParaRPr b="0" i="0" sz="1600" u="none" cap="none" strike="noStrike"/>
          </a:p>
        </p:txBody>
      </p:sp>
      <p:cxnSp>
        <p:nvCxnSpPr>
          <p:cNvPr id="37" name="Google Shape;37;p2"/>
          <p:cNvCxnSpPr/>
          <p:nvPr/>
        </p:nvCxnSpPr>
        <p:spPr>
          <a:xfrm>
            <a:off x="3302000" y="5397500"/>
            <a:ext cx="508000" cy="0"/>
          </a:xfrm>
          <a:prstGeom prst="straightConnector1">
            <a:avLst/>
          </a:prstGeom>
          <a:noFill/>
          <a:ln cap="flat" cmpd="sng" w="25400">
            <a:solidFill>
              <a:srgbClr val="2D6A4F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8" name="Google Shape;38;p2"/>
          <p:cNvSpPr/>
          <p:nvPr/>
        </p:nvSpPr>
        <p:spPr>
          <a:xfrm>
            <a:off x="4768850" y="5207000"/>
            <a:ext cx="571500" cy="457200"/>
          </a:xfrm>
          <a:custGeom>
            <a:rect b="b" l="l" r="r" t="t"/>
            <a:pathLst>
              <a:path extrusionOk="0" h="457200" w="571500">
                <a:moveTo>
                  <a:pt x="314325" y="0"/>
                </a:moveTo>
                <a:cubicBezTo>
                  <a:pt x="314325" y="-15806"/>
                  <a:pt x="301556" y="-28575"/>
                  <a:pt x="285750" y="-28575"/>
                </a:cubicBezTo>
                <a:cubicBezTo>
                  <a:pt x="269944" y="-28575"/>
                  <a:pt x="257175" y="-15806"/>
                  <a:pt x="257175" y="0"/>
                </a:cubicBezTo>
                <a:lnTo>
                  <a:pt x="257175" y="57150"/>
                </a:lnTo>
                <a:lnTo>
                  <a:pt x="171450" y="57150"/>
                </a:lnTo>
                <a:cubicBezTo>
                  <a:pt x="124123" y="57150"/>
                  <a:pt x="85725" y="95548"/>
                  <a:pt x="85725" y="142875"/>
                </a:cubicBezTo>
                <a:lnTo>
                  <a:pt x="85725" y="342900"/>
                </a:lnTo>
                <a:cubicBezTo>
                  <a:pt x="85725" y="390227"/>
                  <a:pt x="124123" y="428625"/>
                  <a:pt x="171450" y="428625"/>
                </a:cubicBezTo>
                <a:lnTo>
                  <a:pt x="400050" y="428625"/>
                </a:lnTo>
                <a:cubicBezTo>
                  <a:pt x="447377" y="428625"/>
                  <a:pt x="485775" y="390227"/>
                  <a:pt x="485775" y="342900"/>
                </a:cubicBezTo>
                <a:lnTo>
                  <a:pt x="485775" y="142875"/>
                </a:lnTo>
                <a:cubicBezTo>
                  <a:pt x="485775" y="95548"/>
                  <a:pt x="447377" y="57150"/>
                  <a:pt x="400050" y="57150"/>
                </a:cubicBezTo>
                <a:lnTo>
                  <a:pt x="314325" y="57150"/>
                </a:lnTo>
                <a:lnTo>
                  <a:pt x="314325" y="0"/>
                </a:lnTo>
                <a:close/>
                <a:moveTo>
                  <a:pt x="142875" y="328613"/>
                </a:moveTo>
                <a:cubicBezTo>
                  <a:pt x="142875" y="316736"/>
                  <a:pt x="152430" y="307181"/>
                  <a:pt x="164306" y="307181"/>
                </a:cubicBezTo>
                <a:lnTo>
                  <a:pt x="192881" y="307181"/>
                </a:lnTo>
                <a:cubicBezTo>
                  <a:pt x="204758" y="307181"/>
                  <a:pt x="214313" y="316736"/>
                  <a:pt x="214313" y="328613"/>
                </a:cubicBezTo>
                <a:cubicBezTo>
                  <a:pt x="214313" y="340489"/>
                  <a:pt x="204758" y="350044"/>
                  <a:pt x="192881" y="350044"/>
                </a:cubicBezTo>
                <a:lnTo>
                  <a:pt x="164306" y="350044"/>
                </a:lnTo>
                <a:cubicBezTo>
                  <a:pt x="152430" y="350044"/>
                  <a:pt x="142875" y="340489"/>
                  <a:pt x="142875" y="328613"/>
                </a:cubicBezTo>
                <a:close/>
                <a:moveTo>
                  <a:pt x="250031" y="328613"/>
                </a:moveTo>
                <a:cubicBezTo>
                  <a:pt x="250031" y="316736"/>
                  <a:pt x="259586" y="307181"/>
                  <a:pt x="271463" y="307181"/>
                </a:cubicBezTo>
                <a:lnTo>
                  <a:pt x="300038" y="307181"/>
                </a:lnTo>
                <a:cubicBezTo>
                  <a:pt x="311914" y="307181"/>
                  <a:pt x="321469" y="316736"/>
                  <a:pt x="321469" y="328613"/>
                </a:cubicBezTo>
                <a:cubicBezTo>
                  <a:pt x="321469" y="340489"/>
                  <a:pt x="311914" y="350044"/>
                  <a:pt x="300038" y="350044"/>
                </a:cubicBezTo>
                <a:lnTo>
                  <a:pt x="271463" y="350044"/>
                </a:lnTo>
                <a:cubicBezTo>
                  <a:pt x="259586" y="350044"/>
                  <a:pt x="250031" y="340489"/>
                  <a:pt x="250031" y="328613"/>
                </a:cubicBezTo>
                <a:close/>
                <a:moveTo>
                  <a:pt x="357188" y="328613"/>
                </a:moveTo>
                <a:cubicBezTo>
                  <a:pt x="357188" y="316736"/>
                  <a:pt x="366742" y="307181"/>
                  <a:pt x="378619" y="307181"/>
                </a:cubicBezTo>
                <a:lnTo>
                  <a:pt x="407194" y="307181"/>
                </a:lnTo>
                <a:cubicBezTo>
                  <a:pt x="419070" y="307181"/>
                  <a:pt x="428625" y="316736"/>
                  <a:pt x="428625" y="328613"/>
                </a:cubicBezTo>
                <a:cubicBezTo>
                  <a:pt x="428625" y="340489"/>
                  <a:pt x="419070" y="350044"/>
                  <a:pt x="407194" y="350044"/>
                </a:cubicBezTo>
                <a:lnTo>
                  <a:pt x="378619" y="350044"/>
                </a:lnTo>
                <a:cubicBezTo>
                  <a:pt x="366742" y="350044"/>
                  <a:pt x="357188" y="340489"/>
                  <a:pt x="357188" y="328613"/>
                </a:cubicBezTo>
                <a:close/>
                <a:moveTo>
                  <a:pt x="200025" y="157163"/>
                </a:moveTo>
                <a:cubicBezTo>
                  <a:pt x="223681" y="157163"/>
                  <a:pt x="242888" y="176369"/>
                  <a:pt x="242888" y="200025"/>
                </a:cubicBezTo>
                <a:cubicBezTo>
                  <a:pt x="242888" y="223681"/>
                  <a:pt x="223681" y="242888"/>
                  <a:pt x="200025" y="242888"/>
                </a:cubicBezTo>
                <a:cubicBezTo>
                  <a:pt x="176369" y="242888"/>
                  <a:pt x="157163" y="223681"/>
                  <a:pt x="157163" y="200025"/>
                </a:cubicBezTo>
                <a:cubicBezTo>
                  <a:pt x="157163" y="176369"/>
                  <a:pt x="176369" y="157163"/>
                  <a:pt x="200025" y="157163"/>
                </a:cubicBezTo>
                <a:close/>
                <a:moveTo>
                  <a:pt x="328613" y="200025"/>
                </a:moveTo>
                <a:cubicBezTo>
                  <a:pt x="328613" y="176369"/>
                  <a:pt x="347819" y="157163"/>
                  <a:pt x="371475" y="157163"/>
                </a:cubicBezTo>
                <a:cubicBezTo>
                  <a:pt x="395131" y="157163"/>
                  <a:pt x="414338" y="176369"/>
                  <a:pt x="414338" y="200025"/>
                </a:cubicBezTo>
                <a:cubicBezTo>
                  <a:pt x="414338" y="223681"/>
                  <a:pt x="395131" y="242888"/>
                  <a:pt x="371475" y="242888"/>
                </a:cubicBezTo>
                <a:cubicBezTo>
                  <a:pt x="347819" y="242888"/>
                  <a:pt x="328613" y="223681"/>
                  <a:pt x="328613" y="200025"/>
                </a:cubicBezTo>
                <a:close/>
                <a:moveTo>
                  <a:pt x="57150" y="200025"/>
                </a:moveTo>
                <a:cubicBezTo>
                  <a:pt x="57150" y="184219"/>
                  <a:pt x="44381" y="171450"/>
                  <a:pt x="28575" y="171450"/>
                </a:cubicBezTo>
                <a:cubicBezTo>
                  <a:pt x="12769" y="171450"/>
                  <a:pt x="0" y="184219"/>
                  <a:pt x="0" y="200025"/>
                </a:cubicBezTo>
                <a:lnTo>
                  <a:pt x="0" y="285750"/>
                </a:lnTo>
                <a:cubicBezTo>
                  <a:pt x="0" y="301556"/>
                  <a:pt x="12769" y="314325"/>
                  <a:pt x="28575" y="314325"/>
                </a:cubicBezTo>
                <a:cubicBezTo>
                  <a:pt x="44381" y="314325"/>
                  <a:pt x="57150" y="301556"/>
                  <a:pt x="57150" y="285750"/>
                </a:cubicBezTo>
                <a:lnTo>
                  <a:pt x="57150" y="200025"/>
                </a:lnTo>
                <a:close/>
                <a:moveTo>
                  <a:pt x="542925" y="171450"/>
                </a:moveTo>
                <a:cubicBezTo>
                  <a:pt x="527119" y="171450"/>
                  <a:pt x="514350" y="184219"/>
                  <a:pt x="514350" y="200025"/>
                </a:cubicBezTo>
                <a:lnTo>
                  <a:pt x="514350" y="285750"/>
                </a:lnTo>
                <a:cubicBezTo>
                  <a:pt x="514350" y="301556"/>
                  <a:pt x="527119" y="314325"/>
                  <a:pt x="542925" y="314325"/>
                </a:cubicBezTo>
                <a:cubicBezTo>
                  <a:pt x="558731" y="314325"/>
                  <a:pt x="571500" y="301556"/>
                  <a:pt x="571500" y="285750"/>
                </a:cubicBezTo>
                <a:lnTo>
                  <a:pt x="571500" y="200025"/>
                </a:lnTo>
                <a:cubicBezTo>
                  <a:pt x="571500" y="184219"/>
                  <a:pt x="558731" y="171450"/>
                  <a:pt x="542925" y="171450"/>
                </a:cubicBezTo>
                <a:close/>
              </a:path>
            </a:pathLst>
          </a:custGeom>
          <a:solidFill>
            <a:srgbClr val="2D6A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4445000" y="5740400"/>
            <a:ext cx="127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B433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 чете</a:t>
            </a:r>
            <a:endParaRPr b="0" i="0" sz="1600" u="none" cap="none" strike="noStrike"/>
          </a:p>
        </p:txBody>
      </p:sp>
      <p:cxnSp>
        <p:nvCxnSpPr>
          <p:cNvPr id="40" name="Google Shape;40;p2"/>
          <p:cNvCxnSpPr/>
          <p:nvPr/>
        </p:nvCxnSpPr>
        <p:spPr>
          <a:xfrm>
            <a:off x="6350000" y="5397500"/>
            <a:ext cx="508000" cy="0"/>
          </a:xfrm>
          <a:prstGeom prst="straightConnector1">
            <a:avLst/>
          </a:prstGeom>
          <a:noFill/>
          <a:ln cap="flat" cmpd="sng" w="25400">
            <a:solidFill>
              <a:srgbClr val="2D6A4F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1" name="Google Shape;41;p2"/>
          <p:cNvSpPr/>
          <p:nvPr/>
        </p:nvSpPr>
        <p:spPr>
          <a:xfrm>
            <a:off x="7874000" y="5207000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600" y="0"/>
                </a:moveTo>
                <a:cubicBezTo>
                  <a:pt x="241727" y="0"/>
                  <a:pt x="253782" y="7233"/>
                  <a:pt x="260033" y="18752"/>
                </a:cubicBezTo>
                <a:lnTo>
                  <a:pt x="452914" y="375940"/>
                </a:lnTo>
                <a:cubicBezTo>
                  <a:pt x="458897" y="387013"/>
                  <a:pt x="458629" y="400407"/>
                  <a:pt x="452199" y="411212"/>
                </a:cubicBezTo>
                <a:cubicBezTo>
                  <a:pt x="445770" y="422017"/>
                  <a:pt x="434072" y="428625"/>
                  <a:pt x="421481" y="428625"/>
                </a:cubicBezTo>
                <a:lnTo>
                  <a:pt x="35719" y="428625"/>
                </a:lnTo>
                <a:cubicBezTo>
                  <a:pt x="23128" y="428625"/>
                  <a:pt x="11519" y="422017"/>
                  <a:pt x="5001" y="411212"/>
                </a:cubicBezTo>
                <a:cubicBezTo>
                  <a:pt x="-1518" y="400407"/>
                  <a:pt x="-1697" y="387013"/>
                  <a:pt x="4286" y="375940"/>
                </a:cubicBezTo>
                <a:lnTo>
                  <a:pt x="197168" y="18752"/>
                </a:lnTo>
                <a:cubicBezTo>
                  <a:pt x="203418" y="7233"/>
                  <a:pt x="215473" y="0"/>
                  <a:pt x="228600" y="0"/>
                </a:cubicBezTo>
                <a:close/>
                <a:moveTo>
                  <a:pt x="228600" y="150019"/>
                </a:moveTo>
                <a:cubicBezTo>
                  <a:pt x="216724" y="150019"/>
                  <a:pt x="207169" y="159574"/>
                  <a:pt x="207169" y="171450"/>
                </a:cubicBezTo>
                <a:lnTo>
                  <a:pt x="207169" y="271463"/>
                </a:lnTo>
                <a:cubicBezTo>
                  <a:pt x="207169" y="283339"/>
                  <a:pt x="216724" y="292894"/>
                  <a:pt x="228600" y="292894"/>
                </a:cubicBezTo>
                <a:cubicBezTo>
                  <a:pt x="240476" y="292894"/>
                  <a:pt x="250031" y="283339"/>
                  <a:pt x="250031" y="271463"/>
                </a:cubicBezTo>
                <a:lnTo>
                  <a:pt x="250031" y="171450"/>
                </a:lnTo>
                <a:cubicBezTo>
                  <a:pt x="250031" y="159574"/>
                  <a:pt x="240476" y="150019"/>
                  <a:pt x="228600" y="150019"/>
                </a:cubicBezTo>
                <a:close/>
                <a:moveTo>
                  <a:pt x="252442" y="342900"/>
                </a:moveTo>
                <a:cubicBezTo>
                  <a:pt x="252985" y="334050"/>
                  <a:pt x="248571" y="325630"/>
                  <a:pt x="240985" y="321041"/>
                </a:cubicBezTo>
                <a:cubicBezTo>
                  <a:pt x="233398" y="316452"/>
                  <a:pt x="223891" y="316452"/>
                  <a:pt x="216305" y="321041"/>
                </a:cubicBezTo>
                <a:cubicBezTo>
                  <a:pt x="208718" y="325630"/>
                  <a:pt x="204305" y="334050"/>
                  <a:pt x="204847" y="342900"/>
                </a:cubicBezTo>
                <a:cubicBezTo>
                  <a:pt x="204305" y="351750"/>
                  <a:pt x="208718" y="360170"/>
                  <a:pt x="216305" y="364759"/>
                </a:cubicBezTo>
                <a:cubicBezTo>
                  <a:pt x="223891" y="369348"/>
                  <a:pt x="233398" y="369348"/>
                  <a:pt x="240985" y="364759"/>
                </a:cubicBezTo>
                <a:cubicBezTo>
                  <a:pt x="248571" y="360170"/>
                  <a:pt x="252985" y="351750"/>
                  <a:pt x="252442" y="342900"/>
                </a:cubicBezTo>
                <a:close/>
              </a:path>
            </a:pathLst>
          </a:custGeom>
          <a:solidFill>
            <a:srgbClr val="E76F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7366000" y="5740400"/>
            <a:ext cx="1524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B433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Предупреждение</a:t>
            </a:r>
            <a:endParaRPr b="0" i="0" sz="1600" u="none" cap="none" strike="noStrike"/>
          </a:p>
        </p:txBody>
      </p:sp>
      <p:cxnSp>
        <p:nvCxnSpPr>
          <p:cNvPr id="43" name="Google Shape;43;p2"/>
          <p:cNvCxnSpPr/>
          <p:nvPr/>
        </p:nvCxnSpPr>
        <p:spPr>
          <a:xfrm>
            <a:off x="9525000" y="5397500"/>
            <a:ext cx="508000" cy="0"/>
          </a:xfrm>
          <a:prstGeom prst="straightConnector1">
            <a:avLst/>
          </a:prstGeom>
          <a:noFill/>
          <a:ln cap="flat" cmpd="sng" w="25400">
            <a:solidFill>
              <a:srgbClr val="2D6A4F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4" name="Google Shape;44;p2"/>
          <p:cNvSpPr/>
          <p:nvPr/>
        </p:nvSpPr>
        <p:spPr>
          <a:xfrm>
            <a:off x="11106150" y="5207000"/>
            <a:ext cx="342900" cy="457200"/>
          </a:xfrm>
          <a:custGeom>
            <a:rect b="b" l="l" r="r" t="t"/>
            <a:pathLst>
              <a:path extrusionOk="0" h="457200" w="342900">
                <a:moveTo>
                  <a:pt x="261551" y="342900"/>
                </a:moveTo>
                <a:cubicBezTo>
                  <a:pt x="268069" y="322987"/>
                  <a:pt x="281107" y="304949"/>
                  <a:pt x="295841" y="289411"/>
                </a:cubicBezTo>
                <a:cubicBezTo>
                  <a:pt x="325041" y="258693"/>
                  <a:pt x="342900" y="217170"/>
                  <a:pt x="342900" y="171450"/>
                </a:cubicBezTo>
                <a:cubicBezTo>
                  <a:pt x="342900" y="76795"/>
                  <a:pt x="266105" y="0"/>
                  <a:pt x="171450" y="0"/>
                </a:cubicBezTo>
                <a:cubicBezTo>
                  <a:pt x="76795" y="0"/>
                  <a:pt x="0" y="76795"/>
                  <a:pt x="0" y="171450"/>
                </a:cubicBezTo>
                <a:cubicBezTo>
                  <a:pt x="0" y="217170"/>
                  <a:pt x="17859" y="258693"/>
                  <a:pt x="47059" y="289411"/>
                </a:cubicBezTo>
                <a:cubicBezTo>
                  <a:pt x="61793" y="304949"/>
                  <a:pt x="74920" y="322987"/>
                  <a:pt x="81349" y="342900"/>
                </a:cubicBezTo>
                <a:lnTo>
                  <a:pt x="261461" y="342900"/>
                </a:lnTo>
                <a:close/>
                <a:moveTo>
                  <a:pt x="257175" y="385763"/>
                </a:moveTo>
                <a:lnTo>
                  <a:pt x="85725" y="385763"/>
                </a:lnTo>
                <a:lnTo>
                  <a:pt x="85725" y="400050"/>
                </a:lnTo>
                <a:cubicBezTo>
                  <a:pt x="85725" y="439519"/>
                  <a:pt x="117693" y="471488"/>
                  <a:pt x="157163" y="471488"/>
                </a:cubicBezTo>
                <a:lnTo>
                  <a:pt x="185738" y="471488"/>
                </a:lnTo>
                <a:cubicBezTo>
                  <a:pt x="225207" y="471488"/>
                  <a:pt x="257175" y="439519"/>
                  <a:pt x="257175" y="400050"/>
                </a:cubicBezTo>
                <a:lnTo>
                  <a:pt x="257175" y="385763"/>
                </a:lnTo>
                <a:close/>
                <a:moveTo>
                  <a:pt x="164306" y="100013"/>
                </a:moveTo>
                <a:cubicBezTo>
                  <a:pt x="128766" y="100013"/>
                  <a:pt x="100013" y="128766"/>
                  <a:pt x="100013" y="164306"/>
                </a:cubicBezTo>
                <a:cubicBezTo>
                  <a:pt x="100013" y="176183"/>
                  <a:pt x="90458" y="185738"/>
                  <a:pt x="78581" y="185738"/>
                </a:cubicBezTo>
                <a:cubicBezTo>
                  <a:pt x="66705" y="185738"/>
                  <a:pt x="57150" y="176183"/>
                  <a:pt x="57150" y="164306"/>
                </a:cubicBezTo>
                <a:cubicBezTo>
                  <a:pt x="57150" y="105102"/>
                  <a:pt x="105102" y="57150"/>
                  <a:pt x="164306" y="57150"/>
                </a:cubicBezTo>
                <a:cubicBezTo>
                  <a:pt x="176183" y="57150"/>
                  <a:pt x="185738" y="66705"/>
                  <a:pt x="185738" y="78581"/>
                </a:cubicBezTo>
                <a:cubicBezTo>
                  <a:pt x="185738" y="90458"/>
                  <a:pt x="176183" y="100013"/>
                  <a:pt x="164306" y="100013"/>
                </a:cubicBezTo>
                <a:close/>
              </a:path>
            </a:pathLst>
          </a:custGeom>
          <a:solidFill>
            <a:srgbClr val="2D6A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10668000" y="5740400"/>
            <a:ext cx="127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B433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Алтернативи</a:t>
            </a:r>
            <a:endParaRPr b="0" i="0" sz="1600" u="none" cap="none" strike="noStrike"/>
          </a:p>
        </p:txBody>
      </p:sp>
      <p:sp>
        <p:nvSpPr>
          <p:cNvPr id="46" name="Google Shape;46;p2"/>
          <p:cNvSpPr/>
          <p:nvPr/>
        </p:nvSpPr>
        <p:spPr>
          <a:xfrm>
            <a:off x="762000" y="6985000"/>
            <a:ext cx="1473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279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Разпознава </a:t>
            </a:r>
            <a:r>
              <a:rPr b="1" i="0" lang="en-US" sz="1800" u="none" cap="none" strike="noStrike">
                <a:solidFill>
                  <a:srgbClr val="E76F5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вредни съставки</a:t>
            </a:r>
            <a:r>
              <a:rPr b="0" i="0" lang="en-US" sz="1800" u="none" cap="none" strike="noStrike">
                <a:solidFill>
                  <a:srgbClr val="5279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от всяка снимка на етикет — бързо и лесно</a:t>
            </a:r>
            <a:endParaRPr b="0" i="0" sz="1600" u="none" cap="none" strike="noStrike"/>
          </a:p>
        </p:txBody>
      </p:sp>
      <p:sp>
        <p:nvSpPr>
          <p:cNvPr id="47" name="Google Shape;47;p2"/>
          <p:cNvSpPr/>
          <p:nvPr/>
        </p:nvSpPr>
        <p:spPr>
          <a:xfrm>
            <a:off x="14986000" y="86360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279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AE0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"/>
          <p:cNvSpPr/>
          <p:nvPr/>
        </p:nvSpPr>
        <p:spPr>
          <a:xfrm>
            <a:off x="762000" y="571500"/>
            <a:ext cx="8890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D6A4F"/>
                </a:solidFill>
                <a:latin typeface="Liter"/>
                <a:ea typeface="Liter"/>
                <a:cs typeface="Liter"/>
                <a:sym typeface="Liter"/>
              </a:rPr>
              <a:t>Какво "върти" проекта?</a:t>
            </a:r>
            <a:endParaRPr b="0" i="0" sz="3600" u="none" cap="none" strike="noStrike"/>
          </a:p>
        </p:txBody>
      </p:sp>
      <p:sp>
        <p:nvSpPr>
          <p:cNvPr id="54" name="Google Shape;54;p3"/>
          <p:cNvSpPr/>
          <p:nvPr/>
        </p:nvSpPr>
        <p:spPr>
          <a:xfrm>
            <a:off x="762000" y="1270000"/>
            <a:ext cx="1016000" cy="508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762000" y="1651000"/>
            <a:ext cx="4572000" cy="2032000"/>
          </a:xfrm>
          <a:prstGeom prst="roundRect">
            <a:avLst>
              <a:gd fmla="val 8000" name="adj"/>
            </a:avLst>
          </a:prstGeom>
          <a:solidFill>
            <a:srgbClr val="E9F5EC"/>
          </a:solidFill>
          <a:ln>
            <a:noFill/>
          </a:ln>
          <a:effectLst>
            <a:outerShdw blurRad="76200" rotWithShape="0" algn="bl" dir="5400000" dist="25400">
              <a:srgbClr val="1B4333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1104900" y="1930400"/>
            <a:ext cx="355600" cy="406400"/>
          </a:xfrm>
          <a:custGeom>
            <a:rect b="b" l="l" r="r" t="t"/>
            <a:pathLst>
              <a:path extrusionOk="0" h="406400" w="355600">
                <a:moveTo>
                  <a:pt x="349091" y="159147"/>
                </a:moveTo>
                <a:cubicBezTo>
                  <a:pt x="342979" y="134620"/>
                  <a:pt x="331391" y="116126"/>
                  <a:pt x="306705" y="116126"/>
                </a:cubicBezTo>
                <a:lnTo>
                  <a:pt x="274876" y="116126"/>
                </a:lnTo>
                <a:lnTo>
                  <a:pt x="274876" y="153749"/>
                </a:lnTo>
                <a:cubicBezTo>
                  <a:pt x="274876" y="182959"/>
                  <a:pt x="250111" y="207566"/>
                  <a:pt x="221853" y="207566"/>
                </a:cubicBezTo>
                <a:lnTo>
                  <a:pt x="137081" y="207566"/>
                </a:lnTo>
                <a:cubicBezTo>
                  <a:pt x="113903" y="207566"/>
                  <a:pt x="94694" y="227409"/>
                  <a:pt x="94694" y="250666"/>
                </a:cubicBezTo>
                <a:lnTo>
                  <a:pt x="94694" y="331470"/>
                </a:lnTo>
                <a:cubicBezTo>
                  <a:pt x="94694" y="354489"/>
                  <a:pt x="114697" y="367983"/>
                  <a:pt x="137081" y="374571"/>
                </a:cubicBezTo>
                <a:cubicBezTo>
                  <a:pt x="163909" y="382429"/>
                  <a:pt x="189706" y="383858"/>
                  <a:pt x="221853" y="374571"/>
                </a:cubicBezTo>
                <a:cubicBezTo>
                  <a:pt x="243205" y="368379"/>
                  <a:pt x="264239" y="355918"/>
                  <a:pt x="264239" y="331470"/>
                </a:cubicBezTo>
                <a:lnTo>
                  <a:pt x="264239" y="299164"/>
                </a:lnTo>
                <a:lnTo>
                  <a:pt x="179546" y="299164"/>
                </a:lnTo>
                <a:lnTo>
                  <a:pt x="179546" y="288369"/>
                </a:lnTo>
                <a:lnTo>
                  <a:pt x="306705" y="288369"/>
                </a:lnTo>
                <a:cubicBezTo>
                  <a:pt x="331391" y="288369"/>
                  <a:pt x="340519" y="271145"/>
                  <a:pt x="349091" y="245348"/>
                </a:cubicBezTo>
                <a:cubicBezTo>
                  <a:pt x="357981" y="218758"/>
                  <a:pt x="357584" y="193199"/>
                  <a:pt x="349091" y="159147"/>
                </a:cubicBezTo>
                <a:close/>
                <a:moveTo>
                  <a:pt x="227171" y="352981"/>
                </a:moveTo>
                <a:cubicBezTo>
                  <a:pt x="221130" y="353404"/>
                  <a:pt x="215357" y="350422"/>
                  <a:pt x="212208" y="345249"/>
                </a:cubicBezTo>
                <a:cubicBezTo>
                  <a:pt x="209058" y="340077"/>
                  <a:pt x="209058" y="333579"/>
                  <a:pt x="212208" y="328406"/>
                </a:cubicBezTo>
                <a:cubicBezTo>
                  <a:pt x="215357" y="323234"/>
                  <a:pt x="221130" y="320251"/>
                  <a:pt x="227171" y="320675"/>
                </a:cubicBezTo>
                <a:cubicBezTo>
                  <a:pt x="233212" y="320251"/>
                  <a:pt x="238985" y="323234"/>
                  <a:pt x="242135" y="328406"/>
                </a:cubicBezTo>
                <a:cubicBezTo>
                  <a:pt x="245284" y="333579"/>
                  <a:pt x="245284" y="340077"/>
                  <a:pt x="242135" y="345249"/>
                </a:cubicBezTo>
                <a:cubicBezTo>
                  <a:pt x="238985" y="350422"/>
                  <a:pt x="233212" y="353404"/>
                  <a:pt x="227171" y="352981"/>
                </a:cubicBezTo>
                <a:close/>
                <a:moveTo>
                  <a:pt x="133191" y="196929"/>
                </a:moveTo>
                <a:lnTo>
                  <a:pt x="217964" y="196929"/>
                </a:lnTo>
                <a:cubicBezTo>
                  <a:pt x="241538" y="196929"/>
                  <a:pt x="260350" y="177483"/>
                  <a:pt x="260350" y="153829"/>
                </a:cubicBezTo>
                <a:lnTo>
                  <a:pt x="260350" y="72946"/>
                </a:lnTo>
                <a:cubicBezTo>
                  <a:pt x="260350" y="49927"/>
                  <a:pt x="240983" y="32703"/>
                  <a:pt x="217964" y="28813"/>
                </a:cubicBezTo>
                <a:cubicBezTo>
                  <a:pt x="189548" y="24130"/>
                  <a:pt x="158671" y="24368"/>
                  <a:pt x="133191" y="28893"/>
                </a:cubicBezTo>
                <a:cubicBezTo>
                  <a:pt x="97314" y="35243"/>
                  <a:pt x="90805" y="48498"/>
                  <a:pt x="90805" y="73025"/>
                </a:cubicBezTo>
                <a:lnTo>
                  <a:pt x="90805" y="105331"/>
                </a:lnTo>
                <a:lnTo>
                  <a:pt x="175657" y="105331"/>
                </a:lnTo>
                <a:lnTo>
                  <a:pt x="175657" y="116126"/>
                </a:lnTo>
                <a:lnTo>
                  <a:pt x="58976" y="116126"/>
                </a:lnTo>
                <a:cubicBezTo>
                  <a:pt x="34290" y="116126"/>
                  <a:pt x="12700" y="130969"/>
                  <a:pt x="5953" y="159147"/>
                </a:cubicBezTo>
                <a:cubicBezTo>
                  <a:pt x="-1826" y="191452"/>
                  <a:pt x="-2143" y="211614"/>
                  <a:pt x="5953" y="245348"/>
                </a:cubicBezTo>
                <a:cubicBezTo>
                  <a:pt x="11986" y="270431"/>
                  <a:pt x="26353" y="288369"/>
                  <a:pt x="51038" y="288369"/>
                </a:cubicBezTo>
                <a:lnTo>
                  <a:pt x="80169" y="288369"/>
                </a:lnTo>
                <a:lnTo>
                  <a:pt x="80169" y="249634"/>
                </a:lnTo>
                <a:cubicBezTo>
                  <a:pt x="80169" y="221615"/>
                  <a:pt x="104378" y="196929"/>
                  <a:pt x="133191" y="196929"/>
                </a:cubicBezTo>
                <a:close/>
                <a:moveTo>
                  <a:pt x="127953" y="51356"/>
                </a:moveTo>
                <a:cubicBezTo>
                  <a:pt x="136889" y="51356"/>
                  <a:pt x="144145" y="58611"/>
                  <a:pt x="144145" y="67548"/>
                </a:cubicBezTo>
                <a:cubicBezTo>
                  <a:pt x="144145" y="76485"/>
                  <a:pt x="136889" y="83741"/>
                  <a:pt x="127953" y="83741"/>
                </a:cubicBezTo>
                <a:cubicBezTo>
                  <a:pt x="119016" y="83741"/>
                  <a:pt x="111760" y="76485"/>
                  <a:pt x="111760" y="67548"/>
                </a:cubicBezTo>
                <a:cubicBezTo>
                  <a:pt x="111760" y="58611"/>
                  <a:pt x="119016" y="51356"/>
                  <a:pt x="127953" y="51356"/>
                </a:cubicBezTo>
                <a:close/>
              </a:path>
            </a:pathLst>
          </a:custGeom>
          <a:solidFill>
            <a:srgbClr val="2D6A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1651000" y="1905000"/>
            <a:ext cx="342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B4332"/>
                </a:solidFill>
                <a:latin typeface="Liter"/>
                <a:ea typeface="Liter"/>
                <a:cs typeface="Liter"/>
                <a:sym typeface="Liter"/>
              </a:rPr>
              <a:t>Python</a:t>
            </a:r>
            <a:endParaRPr b="0" i="0" sz="1600" u="none" cap="none" strike="noStrike"/>
          </a:p>
        </p:txBody>
      </p:sp>
      <p:sp>
        <p:nvSpPr>
          <p:cNvPr id="58" name="Google Shape;58;p3"/>
          <p:cNvSpPr/>
          <p:nvPr/>
        </p:nvSpPr>
        <p:spPr>
          <a:xfrm>
            <a:off x="1079500" y="2476500"/>
            <a:ext cx="3937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279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Мощен и лесен език за програмиране</a:t>
            </a:r>
            <a:endParaRPr b="0" i="0" sz="1600" u="none" cap="none" strike="noStrike"/>
          </a:p>
        </p:txBody>
      </p:sp>
      <p:sp>
        <p:nvSpPr>
          <p:cNvPr id="59" name="Google Shape;59;p3"/>
          <p:cNvSpPr/>
          <p:nvPr/>
        </p:nvSpPr>
        <p:spPr>
          <a:xfrm>
            <a:off x="5842000" y="1651000"/>
            <a:ext cx="4572000" cy="2032000"/>
          </a:xfrm>
          <a:prstGeom prst="roundRect">
            <a:avLst>
              <a:gd fmla="val 8000" name="adj"/>
            </a:avLst>
          </a:prstGeom>
          <a:solidFill>
            <a:srgbClr val="E9F5EC"/>
          </a:solidFill>
          <a:ln>
            <a:noFill/>
          </a:ln>
          <a:effectLst>
            <a:outerShdw blurRad="76200" rotWithShape="0" algn="bl" dir="5400000" dist="25400">
              <a:srgbClr val="1B4333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6159500" y="1930400"/>
            <a:ext cx="406400" cy="406400"/>
          </a:xfrm>
          <a:custGeom>
            <a:rect b="b" l="l" r="r" t="t"/>
            <a:pathLst>
              <a:path extrusionOk="0" h="406400" w="406400">
                <a:moveTo>
                  <a:pt x="25400" y="25400"/>
                </a:moveTo>
                <a:cubicBezTo>
                  <a:pt x="39449" y="25400"/>
                  <a:pt x="50800" y="36751"/>
                  <a:pt x="50800" y="50800"/>
                </a:cubicBezTo>
                <a:lnTo>
                  <a:pt x="50800" y="317500"/>
                </a:lnTo>
                <a:cubicBezTo>
                  <a:pt x="50800" y="324485"/>
                  <a:pt x="56515" y="330200"/>
                  <a:pt x="63500" y="330200"/>
                </a:cubicBezTo>
                <a:lnTo>
                  <a:pt x="381000" y="330200"/>
                </a:lnTo>
                <a:cubicBezTo>
                  <a:pt x="395049" y="330200"/>
                  <a:pt x="406400" y="341551"/>
                  <a:pt x="406400" y="355600"/>
                </a:cubicBezTo>
                <a:cubicBezTo>
                  <a:pt x="406400" y="369649"/>
                  <a:pt x="395049" y="381000"/>
                  <a:pt x="381000" y="381000"/>
                </a:cubicBezTo>
                <a:lnTo>
                  <a:pt x="63500" y="381000"/>
                </a:lnTo>
                <a:cubicBezTo>
                  <a:pt x="28416" y="381000"/>
                  <a:pt x="0" y="352584"/>
                  <a:pt x="0" y="317500"/>
                </a:cubicBezTo>
                <a:lnTo>
                  <a:pt x="0" y="50800"/>
                </a:lnTo>
                <a:cubicBezTo>
                  <a:pt x="0" y="36751"/>
                  <a:pt x="11351" y="25400"/>
                  <a:pt x="25400" y="25400"/>
                </a:cubicBezTo>
                <a:close/>
                <a:moveTo>
                  <a:pt x="101600" y="76200"/>
                </a:moveTo>
                <a:cubicBezTo>
                  <a:pt x="101600" y="62151"/>
                  <a:pt x="112951" y="50800"/>
                  <a:pt x="127000" y="50800"/>
                </a:cubicBezTo>
                <a:lnTo>
                  <a:pt x="279400" y="50800"/>
                </a:lnTo>
                <a:cubicBezTo>
                  <a:pt x="293449" y="50800"/>
                  <a:pt x="304800" y="62151"/>
                  <a:pt x="304800" y="76200"/>
                </a:cubicBezTo>
                <a:cubicBezTo>
                  <a:pt x="304800" y="90249"/>
                  <a:pt x="293449" y="101600"/>
                  <a:pt x="279400" y="101600"/>
                </a:cubicBezTo>
                <a:lnTo>
                  <a:pt x="127000" y="101600"/>
                </a:lnTo>
                <a:cubicBezTo>
                  <a:pt x="112951" y="101600"/>
                  <a:pt x="101600" y="90249"/>
                  <a:pt x="101600" y="76200"/>
                </a:cubicBezTo>
                <a:close/>
                <a:moveTo>
                  <a:pt x="127000" y="139700"/>
                </a:moveTo>
                <a:lnTo>
                  <a:pt x="228600" y="139700"/>
                </a:lnTo>
                <a:cubicBezTo>
                  <a:pt x="242649" y="139700"/>
                  <a:pt x="254000" y="151051"/>
                  <a:pt x="254000" y="165100"/>
                </a:cubicBezTo>
                <a:cubicBezTo>
                  <a:pt x="254000" y="179149"/>
                  <a:pt x="242649" y="190500"/>
                  <a:pt x="228600" y="190500"/>
                </a:cubicBezTo>
                <a:lnTo>
                  <a:pt x="127000" y="190500"/>
                </a:lnTo>
                <a:cubicBezTo>
                  <a:pt x="112951" y="190500"/>
                  <a:pt x="101600" y="179149"/>
                  <a:pt x="101600" y="165100"/>
                </a:cubicBezTo>
                <a:cubicBezTo>
                  <a:pt x="101600" y="151051"/>
                  <a:pt x="112951" y="139700"/>
                  <a:pt x="127000" y="139700"/>
                </a:cubicBezTo>
                <a:close/>
                <a:moveTo>
                  <a:pt x="127000" y="228600"/>
                </a:moveTo>
                <a:lnTo>
                  <a:pt x="330200" y="228600"/>
                </a:lnTo>
                <a:cubicBezTo>
                  <a:pt x="344249" y="228600"/>
                  <a:pt x="355600" y="239951"/>
                  <a:pt x="355600" y="254000"/>
                </a:cubicBezTo>
                <a:cubicBezTo>
                  <a:pt x="355600" y="268049"/>
                  <a:pt x="344249" y="279400"/>
                  <a:pt x="330200" y="279400"/>
                </a:cubicBezTo>
                <a:lnTo>
                  <a:pt x="127000" y="279400"/>
                </a:lnTo>
                <a:cubicBezTo>
                  <a:pt x="112951" y="279400"/>
                  <a:pt x="101600" y="268049"/>
                  <a:pt x="101600" y="254000"/>
                </a:cubicBezTo>
                <a:cubicBezTo>
                  <a:pt x="101600" y="239951"/>
                  <a:pt x="112951" y="228600"/>
                  <a:pt x="127000" y="228600"/>
                </a:cubicBezTo>
                <a:close/>
              </a:path>
            </a:pathLst>
          </a:custGeom>
          <a:solidFill>
            <a:srgbClr val="2D6A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6731000" y="1905000"/>
            <a:ext cx="342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B4332"/>
                </a:solidFill>
                <a:latin typeface="Liter"/>
                <a:ea typeface="Liter"/>
                <a:cs typeface="Liter"/>
                <a:sym typeface="Liter"/>
              </a:rPr>
              <a:t>Streamlit</a:t>
            </a:r>
            <a:endParaRPr b="0" i="0" sz="1600" u="none" cap="none" strike="noStrike"/>
          </a:p>
        </p:txBody>
      </p:sp>
      <p:sp>
        <p:nvSpPr>
          <p:cNvPr id="62" name="Google Shape;62;p3"/>
          <p:cNvSpPr/>
          <p:nvPr/>
        </p:nvSpPr>
        <p:spPr>
          <a:xfrm>
            <a:off x="6159500" y="2476500"/>
            <a:ext cx="3937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279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Уеб приложение за 5 минути</a:t>
            </a:r>
            <a:endParaRPr b="0" i="0" sz="1600" u="none" cap="none" strike="noStrike"/>
          </a:p>
        </p:txBody>
      </p:sp>
      <p:sp>
        <p:nvSpPr>
          <p:cNvPr id="63" name="Google Shape;63;p3"/>
          <p:cNvSpPr/>
          <p:nvPr/>
        </p:nvSpPr>
        <p:spPr>
          <a:xfrm>
            <a:off x="762000" y="4064000"/>
            <a:ext cx="4572000" cy="2032000"/>
          </a:xfrm>
          <a:prstGeom prst="roundRect">
            <a:avLst>
              <a:gd fmla="val 8000" name="adj"/>
            </a:avLst>
          </a:prstGeom>
          <a:solidFill>
            <a:srgbClr val="E9F5EC"/>
          </a:solidFill>
          <a:ln>
            <a:noFill/>
          </a:ln>
          <a:effectLst>
            <a:outerShdw blurRad="76200" rotWithShape="0" algn="bl" dir="5400000" dist="25400">
              <a:srgbClr val="1B4333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1054100" y="4343400"/>
            <a:ext cx="457200" cy="406400"/>
          </a:xfrm>
          <a:custGeom>
            <a:rect b="b" l="l" r="r" t="t"/>
            <a:pathLst>
              <a:path extrusionOk="0" h="406400" w="457200">
                <a:moveTo>
                  <a:pt x="228600" y="25400"/>
                </a:moveTo>
                <a:cubicBezTo>
                  <a:pt x="164465" y="25400"/>
                  <a:pt x="113109" y="54610"/>
                  <a:pt x="75724" y="89376"/>
                </a:cubicBezTo>
                <a:cubicBezTo>
                  <a:pt x="38576" y="123904"/>
                  <a:pt x="13732" y="165100"/>
                  <a:pt x="1905" y="193437"/>
                </a:cubicBezTo>
                <a:cubicBezTo>
                  <a:pt x="-714" y="199708"/>
                  <a:pt x="-714" y="206692"/>
                  <a:pt x="1905" y="212963"/>
                </a:cubicBezTo>
                <a:cubicBezTo>
                  <a:pt x="13732" y="241300"/>
                  <a:pt x="38576" y="282575"/>
                  <a:pt x="75724" y="317024"/>
                </a:cubicBezTo>
                <a:cubicBezTo>
                  <a:pt x="113109" y="351711"/>
                  <a:pt x="164465" y="381000"/>
                  <a:pt x="228600" y="381000"/>
                </a:cubicBezTo>
                <a:cubicBezTo>
                  <a:pt x="292735" y="381000"/>
                  <a:pt x="344091" y="351790"/>
                  <a:pt x="381476" y="317024"/>
                </a:cubicBezTo>
                <a:cubicBezTo>
                  <a:pt x="418624" y="282496"/>
                  <a:pt x="443468" y="241300"/>
                  <a:pt x="455295" y="212963"/>
                </a:cubicBezTo>
                <a:cubicBezTo>
                  <a:pt x="457914" y="206692"/>
                  <a:pt x="457914" y="199707"/>
                  <a:pt x="455295" y="193437"/>
                </a:cubicBezTo>
                <a:cubicBezTo>
                  <a:pt x="443468" y="165100"/>
                  <a:pt x="418624" y="123825"/>
                  <a:pt x="381476" y="89376"/>
                </a:cubicBezTo>
                <a:cubicBezTo>
                  <a:pt x="344091" y="54689"/>
                  <a:pt x="292735" y="25400"/>
                  <a:pt x="228600" y="25400"/>
                </a:cubicBezTo>
                <a:close/>
                <a:moveTo>
                  <a:pt x="114300" y="203200"/>
                </a:moveTo>
                <a:cubicBezTo>
                  <a:pt x="114300" y="140116"/>
                  <a:pt x="165516" y="88900"/>
                  <a:pt x="228600" y="88900"/>
                </a:cubicBezTo>
                <a:cubicBezTo>
                  <a:pt x="291684" y="88900"/>
                  <a:pt x="342900" y="140116"/>
                  <a:pt x="342900" y="203200"/>
                </a:cubicBezTo>
                <a:cubicBezTo>
                  <a:pt x="342900" y="266284"/>
                  <a:pt x="291684" y="317500"/>
                  <a:pt x="228600" y="317500"/>
                </a:cubicBezTo>
                <a:cubicBezTo>
                  <a:pt x="165516" y="317500"/>
                  <a:pt x="114300" y="266284"/>
                  <a:pt x="114300" y="203200"/>
                </a:cubicBezTo>
                <a:close/>
                <a:moveTo>
                  <a:pt x="228600" y="152400"/>
                </a:moveTo>
                <a:cubicBezTo>
                  <a:pt x="228600" y="180419"/>
                  <a:pt x="205819" y="203200"/>
                  <a:pt x="177800" y="203200"/>
                </a:cubicBezTo>
                <a:cubicBezTo>
                  <a:pt x="168672" y="203200"/>
                  <a:pt x="160099" y="200819"/>
                  <a:pt x="152638" y="196533"/>
                </a:cubicBezTo>
                <a:cubicBezTo>
                  <a:pt x="151844" y="205184"/>
                  <a:pt x="152559" y="214074"/>
                  <a:pt x="154940" y="222885"/>
                </a:cubicBezTo>
                <a:cubicBezTo>
                  <a:pt x="165814" y="263525"/>
                  <a:pt x="207645" y="287655"/>
                  <a:pt x="248285" y="276781"/>
                </a:cubicBezTo>
                <a:cubicBezTo>
                  <a:pt x="288925" y="265906"/>
                  <a:pt x="313055" y="224076"/>
                  <a:pt x="302181" y="183436"/>
                </a:cubicBezTo>
                <a:cubicBezTo>
                  <a:pt x="292497" y="147161"/>
                  <a:pt x="258128" y="124063"/>
                  <a:pt x="221933" y="127238"/>
                </a:cubicBezTo>
                <a:cubicBezTo>
                  <a:pt x="226139" y="134620"/>
                  <a:pt x="228600" y="143193"/>
                  <a:pt x="228600" y="152400"/>
                </a:cubicBezTo>
                <a:close/>
              </a:path>
            </a:pathLst>
          </a:custGeom>
          <a:solidFill>
            <a:srgbClr val="2D6A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1651000" y="4318000"/>
            <a:ext cx="342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B4332"/>
                </a:solidFill>
                <a:latin typeface="Liter"/>
                <a:ea typeface="Liter"/>
                <a:cs typeface="Liter"/>
                <a:sym typeface="Liter"/>
              </a:rPr>
              <a:t>EasyOCR</a:t>
            </a:r>
            <a:endParaRPr b="0" i="0" sz="1600" u="none" cap="none" strike="noStrike"/>
          </a:p>
        </p:txBody>
      </p:sp>
      <p:sp>
        <p:nvSpPr>
          <p:cNvPr id="66" name="Google Shape;66;p3"/>
          <p:cNvSpPr/>
          <p:nvPr/>
        </p:nvSpPr>
        <p:spPr>
          <a:xfrm>
            <a:off x="1079500" y="4889500"/>
            <a:ext cx="3937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279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Чете български и английски текст от снимки</a:t>
            </a:r>
            <a:endParaRPr b="0" i="0" sz="1600" u="none" cap="none" strike="noStrike"/>
          </a:p>
        </p:txBody>
      </p:sp>
      <p:sp>
        <p:nvSpPr>
          <p:cNvPr id="67" name="Google Shape;67;p3"/>
          <p:cNvSpPr/>
          <p:nvPr/>
        </p:nvSpPr>
        <p:spPr>
          <a:xfrm>
            <a:off x="5842000" y="4064000"/>
            <a:ext cx="4572000" cy="2032000"/>
          </a:xfrm>
          <a:prstGeom prst="roundRect">
            <a:avLst>
              <a:gd fmla="val 8000" name="adj"/>
            </a:avLst>
          </a:prstGeom>
          <a:solidFill>
            <a:srgbClr val="E9F5EC"/>
          </a:solidFill>
          <a:ln>
            <a:noFill/>
          </a:ln>
          <a:effectLst>
            <a:outerShdw blurRad="76200" rotWithShape="0" algn="bl" dir="5400000" dist="25400">
              <a:srgbClr val="1B4333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6184900" y="4343400"/>
            <a:ext cx="355600" cy="406400"/>
          </a:xfrm>
          <a:custGeom>
            <a:rect b="b" l="l" r="r" t="t"/>
            <a:pathLst>
              <a:path extrusionOk="0" h="406400" w="355600">
                <a:moveTo>
                  <a:pt x="50800" y="25400"/>
                </a:moveTo>
                <a:cubicBezTo>
                  <a:pt x="22781" y="25400"/>
                  <a:pt x="0" y="48181"/>
                  <a:pt x="0" y="76200"/>
                </a:cubicBezTo>
                <a:lnTo>
                  <a:pt x="0" y="330200"/>
                </a:lnTo>
                <a:cubicBezTo>
                  <a:pt x="0" y="358219"/>
                  <a:pt x="22781" y="381000"/>
                  <a:pt x="50800" y="381000"/>
                </a:cubicBezTo>
                <a:lnTo>
                  <a:pt x="304800" y="381000"/>
                </a:lnTo>
                <a:cubicBezTo>
                  <a:pt x="332819" y="381000"/>
                  <a:pt x="355600" y="358219"/>
                  <a:pt x="355600" y="330200"/>
                </a:cubicBezTo>
                <a:lnTo>
                  <a:pt x="355600" y="76200"/>
                </a:lnTo>
                <a:cubicBezTo>
                  <a:pt x="355600" y="48181"/>
                  <a:pt x="332819" y="25400"/>
                  <a:pt x="304800" y="25400"/>
                </a:cubicBezTo>
                <a:lnTo>
                  <a:pt x="50800" y="25400"/>
                </a:lnTo>
                <a:close/>
                <a:moveTo>
                  <a:pt x="101600" y="88900"/>
                </a:moveTo>
                <a:cubicBezTo>
                  <a:pt x="122628" y="88900"/>
                  <a:pt x="139700" y="105972"/>
                  <a:pt x="139700" y="127000"/>
                </a:cubicBezTo>
                <a:cubicBezTo>
                  <a:pt x="139700" y="148028"/>
                  <a:pt x="122628" y="165100"/>
                  <a:pt x="101600" y="165100"/>
                </a:cubicBezTo>
                <a:cubicBezTo>
                  <a:pt x="80572" y="165100"/>
                  <a:pt x="63500" y="148028"/>
                  <a:pt x="63500" y="127000"/>
                </a:cubicBezTo>
                <a:cubicBezTo>
                  <a:pt x="63500" y="105972"/>
                  <a:pt x="80572" y="88900"/>
                  <a:pt x="101600" y="88900"/>
                </a:cubicBezTo>
                <a:close/>
                <a:moveTo>
                  <a:pt x="215900" y="177800"/>
                </a:moveTo>
                <a:cubicBezTo>
                  <a:pt x="222567" y="177800"/>
                  <a:pt x="228679" y="181293"/>
                  <a:pt x="232172" y="186928"/>
                </a:cubicBezTo>
                <a:lnTo>
                  <a:pt x="302022" y="301228"/>
                </a:lnTo>
                <a:cubicBezTo>
                  <a:pt x="305594" y="307102"/>
                  <a:pt x="305753" y="314484"/>
                  <a:pt x="302419" y="320516"/>
                </a:cubicBezTo>
                <a:cubicBezTo>
                  <a:pt x="299085" y="326549"/>
                  <a:pt x="292656" y="330200"/>
                  <a:pt x="285750" y="330200"/>
                </a:cubicBezTo>
                <a:lnTo>
                  <a:pt x="69850" y="330200"/>
                </a:lnTo>
                <a:cubicBezTo>
                  <a:pt x="62786" y="330200"/>
                  <a:pt x="56198" y="326231"/>
                  <a:pt x="52943" y="319961"/>
                </a:cubicBezTo>
                <a:cubicBezTo>
                  <a:pt x="49689" y="313690"/>
                  <a:pt x="50165" y="306070"/>
                  <a:pt x="54213" y="300276"/>
                </a:cubicBezTo>
                <a:lnTo>
                  <a:pt x="98663" y="236776"/>
                </a:lnTo>
                <a:cubicBezTo>
                  <a:pt x="102235" y="231696"/>
                  <a:pt x="108029" y="228679"/>
                  <a:pt x="114300" y="228679"/>
                </a:cubicBezTo>
                <a:cubicBezTo>
                  <a:pt x="120571" y="228679"/>
                  <a:pt x="126365" y="231696"/>
                  <a:pt x="129937" y="236776"/>
                </a:cubicBezTo>
                <a:lnTo>
                  <a:pt x="150892" y="266779"/>
                </a:lnTo>
                <a:lnTo>
                  <a:pt x="199628" y="187008"/>
                </a:lnTo>
                <a:cubicBezTo>
                  <a:pt x="203121" y="181372"/>
                  <a:pt x="209233" y="177879"/>
                  <a:pt x="215900" y="177879"/>
                </a:cubicBezTo>
                <a:close/>
              </a:path>
            </a:pathLst>
          </a:custGeom>
          <a:solidFill>
            <a:srgbClr val="2D6A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6731000" y="4318000"/>
            <a:ext cx="342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B4332"/>
                </a:solidFill>
                <a:latin typeface="Liter"/>
                <a:ea typeface="Liter"/>
                <a:cs typeface="Liter"/>
                <a:sym typeface="Liter"/>
              </a:rPr>
              <a:t>Pillow</a:t>
            </a:r>
            <a:endParaRPr b="0" i="0" sz="1600" u="none" cap="none" strike="noStrike"/>
          </a:p>
        </p:txBody>
      </p:sp>
      <p:sp>
        <p:nvSpPr>
          <p:cNvPr id="70" name="Google Shape;70;p3"/>
          <p:cNvSpPr/>
          <p:nvPr/>
        </p:nvSpPr>
        <p:spPr>
          <a:xfrm>
            <a:off x="6159500" y="4889500"/>
            <a:ext cx="3937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279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Обработва изображенията (контраст, острота)</a:t>
            </a:r>
            <a:endParaRPr b="0" i="0" sz="1600" u="none" cap="none" strike="noStrike"/>
          </a:p>
        </p:txBody>
      </p:sp>
      <p:sp>
        <p:nvSpPr>
          <p:cNvPr id="71" name="Google Shape;71;p3"/>
          <p:cNvSpPr/>
          <p:nvPr/>
        </p:nvSpPr>
        <p:spPr>
          <a:xfrm>
            <a:off x="3365500" y="6427349"/>
            <a:ext cx="4572000" cy="1524000"/>
          </a:xfrm>
          <a:prstGeom prst="roundRect">
            <a:avLst>
              <a:gd fmla="val 8000" name="adj"/>
            </a:avLst>
          </a:prstGeom>
          <a:solidFill>
            <a:srgbClr val="E9F5EC"/>
          </a:solidFill>
          <a:ln>
            <a:noFill/>
          </a:ln>
          <a:effectLst>
            <a:outerShdw blurRad="76200" rotWithShape="0" algn="bl" dir="5400000" dist="25400">
              <a:srgbClr val="1B4333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3514864" y="6629400"/>
            <a:ext cx="355600" cy="406400"/>
          </a:xfrm>
          <a:custGeom>
            <a:rect b="b" l="l" r="r" t="t"/>
            <a:pathLst>
              <a:path extrusionOk="0" h="406400" w="355600">
                <a:moveTo>
                  <a:pt x="304800" y="76200"/>
                </a:moveTo>
                <a:lnTo>
                  <a:pt x="304800" y="127000"/>
                </a:lnTo>
                <a:lnTo>
                  <a:pt x="254000" y="127000"/>
                </a:lnTo>
                <a:lnTo>
                  <a:pt x="254000" y="76200"/>
                </a:lnTo>
                <a:lnTo>
                  <a:pt x="304800" y="76200"/>
                </a:lnTo>
                <a:close/>
                <a:moveTo>
                  <a:pt x="304800" y="177800"/>
                </a:moveTo>
                <a:lnTo>
                  <a:pt x="304800" y="228600"/>
                </a:lnTo>
                <a:lnTo>
                  <a:pt x="254000" y="228600"/>
                </a:lnTo>
                <a:lnTo>
                  <a:pt x="254000" y="177800"/>
                </a:lnTo>
                <a:lnTo>
                  <a:pt x="304800" y="177800"/>
                </a:lnTo>
                <a:close/>
                <a:moveTo>
                  <a:pt x="304800" y="279400"/>
                </a:moveTo>
                <a:lnTo>
                  <a:pt x="304800" y="330200"/>
                </a:lnTo>
                <a:lnTo>
                  <a:pt x="254000" y="330200"/>
                </a:lnTo>
                <a:lnTo>
                  <a:pt x="254000" y="279400"/>
                </a:lnTo>
                <a:lnTo>
                  <a:pt x="304800" y="279400"/>
                </a:lnTo>
                <a:close/>
                <a:moveTo>
                  <a:pt x="203200" y="228600"/>
                </a:moveTo>
                <a:lnTo>
                  <a:pt x="152400" y="228600"/>
                </a:lnTo>
                <a:lnTo>
                  <a:pt x="152400" y="177800"/>
                </a:lnTo>
                <a:lnTo>
                  <a:pt x="203200" y="177800"/>
                </a:lnTo>
                <a:lnTo>
                  <a:pt x="203200" y="228600"/>
                </a:lnTo>
                <a:close/>
                <a:moveTo>
                  <a:pt x="152400" y="279400"/>
                </a:moveTo>
                <a:lnTo>
                  <a:pt x="203200" y="279400"/>
                </a:lnTo>
                <a:lnTo>
                  <a:pt x="203200" y="330200"/>
                </a:lnTo>
                <a:lnTo>
                  <a:pt x="152400" y="330200"/>
                </a:lnTo>
                <a:lnTo>
                  <a:pt x="152400" y="279400"/>
                </a:lnTo>
                <a:close/>
                <a:moveTo>
                  <a:pt x="101600" y="228600"/>
                </a:moveTo>
                <a:lnTo>
                  <a:pt x="50800" y="228600"/>
                </a:lnTo>
                <a:lnTo>
                  <a:pt x="50800" y="177800"/>
                </a:lnTo>
                <a:lnTo>
                  <a:pt x="101600" y="177800"/>
                </a:lnTo>
                <a:lnTo>
                  <a:pt x="101600" y="228600"/>
                </a:lnTo>
                <a:close/>
                <a:moveTo>
                  <a:pt x="50800" y="279400"/>
                </a:moveTo>
                <a:lnTo>
                  <a:pt x="101600" y="279400"/>
                </a:lnTo>
                <a:lnTo>
                  <a:pt x="101600" y="330200"/>
                </a:lnTo>
                <a:lnTo>
                  <a:pt x="50800" y="330200"/>
                </a:lnTo>
                <a:lnTo>
                  <a:pt x="50800" y="279400"/>
                </a:lnTo>
                <a:close/>
                <a:moveTo>
                  <a:pt x="50800" y="127000"/>
                </a:moveTo>
                <a:lnTo>
                  <a:pt x="50800" y="76200"/>
                </a:lnTo>
                <a:lnTo>
                  <a:pt x="101600" y="76200"/>
                </a:lnTo>
                <a:lnTo>
                  <a:pt x="101600" y="127000"/>
                </a:lnTo>
                <a:lnTo>
                  <a:pt x="50800" y="127000"/>
                </a:lnTo>
                <a:close/>
                <a:moveTo>
                  <a:pt x="152400" y="127000"/>
                </a:moveTo>
                <a:lnTo>
                  <a:pt x="152400" y="76200"/>
                </a:lnTo>
                <a:lnTo>
                  <a:pt x="203200" y="76200"/>
                </a:lnTo>
                <a:lnTo>
                  <a:pt x="203200" y="127000"/>
                </a:lnTo>
                <a:lnTo>
                  <a:pt x="152400" y="127000"/>
                </a:lnTo>
                <a:close/>
                <a:moveTo>
                  <a:pt x="50800" y="25400"/>
                </a:moveTo>
                <a:cubicBezTo>
                  <a:pt x="22781" y="25400"/>
                  <a:pt x="0" y="48181"/>
                  <a:pt x="0" y="76200"/>
                </a:cubicBezTo>
                <a:lnTo>
                  <a:pt x="0" y="330200"/>
                </a:lnTo>
                <a:cubicBezTo>
                  <a:pt x="0" y="358219"/>
                  <a:pt x="22781" y="381000"/>
                  <a:pt x="50800" y="381000"/>
                </a:cubicBezTo>
                <a:lnTo>
                  <a:pt x="304800" y="381000"/>
                </a:lnTo>
                <a:cubicBezTo>
                  <a:pt x="332819" y="381000"/>
                  <a:pt x="355600" y="358219"/>
                  <a:pt x="355600" y="330200"/>
                </a:cubicBezTo>
                <a:lnTo>
                  <a:pt x="355600" y="76200"/>
                </a:lnTo>
                <a:cubicBezTo>
                  <a:pt x="355600" y="48181"/>
                  <a:pt x="332819" y="25400"/>
                  <a:pt x="304800" y="25400"/>
                </a:cubicBezTo>
                <a:lnTo>
                  <a:pt x="50800" y="25400"/>
                </a:lnTo>
                <a:close/>
              </a:path>
            </a:pathLst>
          </a:custGeom>
          <a:solidFill>
            <a:srgbClr val="2D6A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3937000" y="6629400"/>
            <a:ext cx="342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B4332"/>
                </a:solidFill>
                <a:latin typeface="Liter"/>
                <a:ea typeface="Liter"/>
                <a:cs typeface="Liter"/>
                <a:sym typeface="Liter"/>
              </a:rPr>
              <a:t>NumPy</a:t>
            </a:r>
            <a:endParaRPr b="0" i="0" sz="1600" u="none" cap="none" strike="noStrike"/>
          </a:p>
        </p:txBody>
      </p:sp>
      <p:sp>
        <p:nvSpPr>
          <p:cNvPr id="74" name="Google Shape;74;p3"/>
          <p:cNvSpPr/>
          <p:nvPr/>
        </p:nvSpPr>
        <p:spPr>
          <a:xfrm>
            <a:off x="3492500" y="7189349"/>
            <a:ext cx="3429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279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Работи с пикселите като матрици</a:t>
            </a:r>
            <a:endParaRPr b="0" i="0" sz="1600" u="none" cap="none" strike="noStrike"/>
          </a:p>
        </p:txBody>
      </p:sp>
      <p:sp>
        <p:nvSpPr>
          <p:cNvPr id="75" name="Google Shape;75;p3"/>
          <p:cNvSpPr/>
          <p:nvPr/>
        </p:nvSpPr>
        <p:spPr>
          <a:xfrm>
            <a:off x="11176000" y="1651000"/>
            <a:ext cx="4318000" cy="5991424"/>
          </a:xfrm>
          <a:prstGeom prst="roundRect">
            <a:avLst>
              <a:gd fmla="val 8000" name="adj"/>
            </a:avLst>
          </a:prstGeom>
          <a:gradFill>
            <a:gsLst>
              <a:gs pos="0">
                <a:srgbClr val="2D6A4F"/>
              </a:gs>
              <a:gs pos="100000">
                <a:srgbClr val="1B4332"/>
              </a:gs>
            </a:gsLst>
            <a:lin ang="108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11557000" y="2032000"/>
            <a:ext cx="3556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5D5B2"/>
                </a:solidFill>
                <a:latin typeface="Liter"/>
                <a:ea typeface="Liter"/>
                <a:cs typeface="Liter"/>
                <a:sym typeface="Liter"/>
              </a:rPr>
              <a:t>import streamlit as st</a:t>
            </a:r>
            <a:endParaRPr b="0" i="0" sz="1600" u="none" cap="none" strike="noStrike"/>
          </a:p>
        </p:txBody>
      </p:sp>
      <p:sp>
        <p:nvSpPr>
          <p:cNvPr id="77" name="Google Shape;77;p3"/>
          <p:cNvSpPr/>
          <p:nvPr/>
        </p:nvSpPr>
        <p:spPr>
          <a:xfrm>
            <a:off x="11557000" y="2476500"/>
            <a:ext cx="3556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5D5B2"/>
                </a:solidFill>
                <a:latin typeface="Liter"/>
                <a:ea typeface="Liter"/>
                <a:cs typeface="Liter"/>
                <a:sym typeface="Liter"/>
              </a:rPr>
              <a:t>import easyocr</a:t>
            </a:r>
            <a:endParaRPr b="0" i="0" sz="1600" u="none" cap="none" strike="noStrike"/>
          </a:p>
        </p:txBody>
      </p:sp>
      <p:sp>
        <p:nvSpPr>
          <p:cNvPr id="78" name="Google Shape;78;p3"/>
          <p:cNvSpPr/>
          <p:nvPr/>
        </p:nvSpPr>
        <p:spPr>
          <a:xfrm>
            <a:off x="11557000" y="2921000"/>
            <a:ext cx="3556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5D5B2"/>
                </a:solidFill>
                <a:latin typeface="Liter"/>
                <a:ea typeface="Liter"/>
                <a:cs typeface="Liter"/>
                <a:sym typeface="Liter"/>
              </a:rPr>
              <a:t>from PIL import Image</a:t>
            </a:r>
            <a:endParaRPr b="0" i="0" sz="1600" u="none" cap="none" strike="noStrike"/>
          </a:p>
        </p:txBody>
      </p:sp>
      <p:sp>
        <p:nvSpPr>
          <p:cNvPr id="79" name="Google Shape;79;p3"/>
          <p:cNvSpPr/>
          <p:nvPr/>
        </p:nvSpPr>
        <p:spPr>
          <a:xfrm>
            <a:off x="11557000" y="3365500"/>
            <a:ext cx="3556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5D5B2"/>
                </a:solidFill>
                <a:latin typeface="Liter"/>
                <a:ea typeface="Liter"/>
                <a:cs typeface="Liter"/>
                <a:sym typeface="Liter"/>
              </a:rPr>
              <a:t>import numpy as np</a:t>
            </a:r>
            <a:endParaRPr b="0" i="0" sz="1600" u="none" cap="none" strike="noStrike"/>
          </a:p>
        </p:txBody>
      </p:sp>
      <p:sp>
        <p:nvSpPr>
          <p:cNvPr id="80" name="Google Shape;80;p3"/>
          <p:cNvSpPr/>
          <p:nvPr/>
        </p:nvSpPr>
        <p:spPr>
          <a:xfrm>
            <a:off x="12827000" y="4826000"/>
            <a:ext cx="1016000" cy="1016000"/>
          </a:xfrm>
          <a:custGeom>
            <a:rect b="b" l="l" r="r" t="t"/>
            <a:pathLst>
              <a:path extrusionOk="0" h="1016000" w="1016000">
                <a:moveTo>
                  <a:pt x="349250" y="47625"/>
                </a:moveTo>
                <a:cubicBezTo>
                  <a:pt x="349250" y="21233"/>
                  <a:pt x="328017" y="0"/>
                  <a:pt x="301625" y="0"/>
                </a:cubicBezTo>
                <a:cubicBezTo>
                  <a:pt x="275233" y="0"/>
                  <a:pt x="254000" y="21233"/>
                  <a:pt x="254000" y="47625"/>
                </a:cubicBezTo>
                <a:lnTo>
                  <a:pt x="254000" y="127000"/>
                </a:lnTo>
                <a:cubicBezTo>
                  <a:pt x="183952" y="127000"/>
                  <a:pt x="127000" y="183952"/>
                  <a:pt x="127000" y="254000"/>
                </a:cubicBezTo>
                <a:lnTo>
                  <a:pt x="47625" y="254000"/>
                </a:lnTo>
                <a:cubicBezTo>
                  <a:pt x="21233" y="254000"/>
                  <a:pt x="0" y="275233"/>
                  <a:pt x="0" y="301625"/>
                </a:cubicBezTo>
                <a:cubicBezTo>
                  <a:pt x="0" y="328017"/>
                  <a:pt x="21233" y="349250"/>
                  <a:pt x="47625" y="349250"/>
                </a:cubicBezTo>
                <a:lnTo>
                  <a:pt x="127000" y="349250"/>
                </a:lnTo>
                <a:lnTo>
                  <a:pt x="127000" y="460375"/>
                </a:lnTo>
                <a:lnTo>
                  <a:pt x="47625" y="460375"/>
                </a:lnTo>
                <a:cubicBezTo>
                  <a:pt x="21233" y="460375"/>
                  <a:pt x="0" y="481608"/>
                  <a:pt x="0" y="508000"/>
                </a:cubicBezTo>
                <a:cubicBezTo>
                  <a:pt x="0" y="534392"/>
                  <a:pt x="21233" y="555625"/>
                  <a:pt x="47625" y="555625"/>
                </a:cubicBezTo>
                <a:lnTo>
                  <a:pt x="127000" y="555625"/>
                </a:lnTo>
                <a:lnTo>
                  <a:pt x="127000" y="666750"/>
                </a:lnTo>
                <a:lnTo>
                  <a:pt x="47625" y="666750"/>
                </a:lnTo>
                <a:cubicBezTo>
                  <a:pt x="21233" y="666750"/>
                  <a:pt x="0" y="687983"/>
                  <a:pt x="0" y="714375"/>
                </a:cubicBezTo>
                <a:cubicBezTo>
                  <a:pt x="0" y="740767"/>
                  <a:pt x="21233" y="762000"/>
                  <a:pt x="47625" y="762000"/>
                </a:cubicBezTo>
                <a:lnTo>
                  <a:pt x="127000" y="762000"/>
                </a:lnTo>
                <a:cubicBezTo>
                  <a:pt x="127000" y="832048"/>
                  <a:pt x="183952" y="889000"/>
                  <a:pt x="254000" y="889000"/>
                </a:cubicBezTo>
                <a:lnTo>
                  <a:pt x="254000" y="968375"/>
                </a:lnTo>
                <a:cubicBezTo>
                  <a:pt x="254000" y="994767"/>
                  <a:pt x="275233" y="1016000"/>
                  <a:pt x="301625" y="1016000"/>
                </a:cubicBezTo>
                <a:cubicBezTo>
                  <a:pt x="328017" y="1016000"/>
                  <a:pt x="349250" y="994767"/>
                  <a:pt x="349250" y="968375"/>
                </a:cubicBezTo>
                <a:lnTo>
                  <a:pt x="349250" y="889000"/>
                </a:lnTo>
                <a:lnTo>
                  <a:pt x="460375" y="889000"/>
                </a:lnTo>
                <a:lnTo>
                  <a:pt x="460375" y="968375"/>
                </a:lnTo>
                <a:cubicBezTo>
                  <a:pt x="460375" y="994767"/>
                  <a:pt x="481608" y="1016000"/>
                  <a:pt x="508000" y="1016000"/>
                </a:cubicBezTo>
                <a:cubicBezTo>
                  <a:pt x="534392" y="1016000"/>
                  <a:pt x="555625" y="994767"/>
                  <a:pt x="555625" y="968375"/>
                </a:cubicBezTo>
                <a:lnTo>
                  <a:pt x="555625" y="889000"/>
                </a:lnTo>
                <a:lnTo>
                  <a:pt x="666750" y="889000"/>
                </a:lnTo>
                <a:lnTo>
                  <a:pt x="666750" y="968375"/>
                </a:lnTo>
                <a:cubicBezTo>
                  <a:pt x="666750" y="994767"/>
                  <a:pt x="687983" y="1016000"/>
                  <a:pt x="714375" y="1016000"/>
                </a:cubicBezTo>
                <a:cubicBezTo>
                  <a:pt x="740767" y="1016000"/>
                  <a:pt x="762000" y="994767"/>
                  <a:pt x="762000" y="968375"/>
                </a:cubicBezTo>
                <a:lnTo>
                  <a:pt x="762000" y="889000"/>
                </a:lnTo>
                <a:cubicBezTo>
                  <a:pt x="832048" y="889000"/>
                  <a:pt x="889000" y="832048"/>
                  <a:pt x="889000" y="762000"/>
                </a:cubicBezTo>
                <a:lnTo>
                  <a:pt x="968375" y="762000"/>
                </a:lnTo>
                <a:cubicBezTo>
                  <a:pt x="994767" y="762000"/>
                  <a:pt x="1016000" y="740767"/>
                  <a:pt x="1016000" y="714375"/>
                </a:cubicBezTo>
                <a:cubicBezTo>
                  <a:pt x="1016000" y="687983"/>
                  <a:pt x="994767" y="666750"/>
                  <a:pt x="968375" y="666750"/>
                </a:cubicBezTo>
                <a:lnTo>
                  <a:pt x="889000" y="666750"/>
                </a:lnTo>
                <a:lnTo>
                  <a:pt x="889000" y="555625"/>
                </a:lnTo>
                <a:lnTo>
                  <a:pt x="968375" y="555625"/>
                </a:lnTo>
                <a:cubicBezTo>
                  <a:pt x="994767" y="555625"/>
                  <a:pt x="1016000" y="534392"/>
                  <a:pt x="1016000" y="508000"/>
                </a:cubicBezTo>
                <a:cubicBezTo>
                  <a:pt x="1016000" y="481608"/>
                  <a:pt x="994767" y="460375"/>
                  <a:pt x="968375" y="460375"/>
                </a:cubicBezTo>
                <a:lnTo>
                  <a:pt x="889000" y="460375"/>
                </a:lnTo>
                <a:lnTo>
                  <a:pt x="889000" y="349250"/>
                </a:lnTo>
                <a:lnTo>
                  <a:pt x="968375" y="349250"/>
                </a:lnTo>
                <a:cubicBezTo>
                  <a:pt x="994767" y="349250"/>
                  <a:pt x="1016000" y="328017"/>
                  <a:pt x="1016000" y="301625"/>
                </a:cubicBezTo>
                <a:cubicBezTo>
                  <a:pt x="1016000" y="275233"/>
                  <a:pt x="994767" y="254000"/>
                  <a:pt x="968375" y="254000"/>
                </a:cubicBezTo>
                <a:lnTo>
                  <a:pt x="889000" y="254000"/>
                </a:lnTo>
                <a:cubicBezTo>
                  <a:pt x="889000" y="183952"/>
                  <a:pt x="832048" y="127000"/>
                  <a:pt x="762000" y="127000"/>
                </a:cubicBezTo>
                <a:lnTo>
                  <a:pt x="762000" y="47625"/>
                </a:lnTo>
                <a:cubicBezTo>
                  <a:pt x="762000" y="21233"/>
                  <a:pt x="740767" y="0"/>
                  <a:pt x="714375" y="0"/>
                </a:cubicBezTo>
                <a:cubicBezTo>
                  <a:pt x="687983" y="0"/>
                  <a:pt x="666750" y="21233"/>
                  <a:pt x="666750" y="47625"/>
                </a:cubicBezTo>
                <a:lnTo>
                  <a:pt x="666750" y="127000"/>
                </a:lnTo>
                <a:lnTo>
                  <a:pt x="555625" y="127000"/>
                </a:lnTo>
                <a:lnTo>
                  <a:pt x="555625" y="47625"/>
                </a:lnTo>
                <a:cubicBezTo>
                  <a:pt x="555625" y="21233"/>
                  <a:pt x="534392" y="0"/>
                  <a:pt x="508000" y="0"/>
                </a:cubicBezTo>
                <a:cubicBezTo>
                  <a:pt x="481608" y="0"/>
                  <a:pt x="460375" y="21233"/>
                  <a:pt x="460375" y="47625"/>
                </a:cubicBezTo>
                <a:lnTo>
                  <a:pt x="460375" y="127000"/>
                </a:lnTo>
                <a:lnTo>
                  <a:pt x="349250" y="127000"/>
                </a:lnTo>
                <a:lnTo>
                  <a:pt x="349250" y="47625"/>
                </a:lnTo>
                <a:close/>
                <a:moveTo>
                  <a:pt x="317500" y="254000"/>
                </a:moveTo>
                <a:lnTo>
                  <a:pt x="698500" y="254000"/>
                </a:lnTo>
                <a:cubicBezTo>
                  <a:pt x="733623" y="254000"/>
                  <a:pt x="762000" y="282377"/>
                  <a:pt x="762000" y="317500"/>
                </a:cubicBezTo>
                <a:lnTo>
                  <a:pt x="762000" y="698500"/>
                </a:lnTo>
                <a:cubicBezTo>
                  <a:pt x="762000" y="733623"/>
                  <a:pt x="733623" y="762000"/>
                  <a:pt x="698500" y="762000"/>
                </a:cubicBezTo>
                <a:lnTo>
                  <a:pt x="317500" y="762000"/>
                </a:lnTo>
                <a:cubicBezTo>
                  <a:pt x="282377" y="762000"/>
                  <a:pt x="254000" y="733623"/>
                  <a:pt x="254000" y="698500"/>
                </a:cubicBezTo>
                <a:lnTo>
                  <a:pt x="254000" y="317500"/>
                </a:lnTo>
                <a:cubicBezTo>
                  <a:pt x="254000" y="282377"/>
                  <a:pt x="282377" y="254000"/>
                  <a:pt x="317500" y="254000"/>
                </a:cubicBezTo>
                <a:close/>
                <a:moveTo>
                  <a:pt x="349250" y="349250"/>
                </a:moveTo>
                <a:lnTo>
                  <a:pt x="349250" y="666750"/>
                </a:lnTo>
                <a:lnTo>
                  <a:pt x="666750" y="666750"/>
                </a:lnTo>
                <a:lnTo>
                  <a:pt x="666750" y="349250"/>
                </a:lnTo>
                <a:lnTo>
                  <a:pt x="349250" y="349250"/>
                </a:lnTo>
                <a:close/>
              </a:path>
            </a:pathLst>
          </a:custGeom>
          <a:solidFill>
            <a:srgbClr val="95D5B2">
              <a:alpha val="1882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762000" y="8229600"/>
            <a:ext cx="14732000" cy="457200"/>
          </a:xfrm>
          <a:prstGeom prst="roundRect">
            <a:avLst>
              <a:gd fmla="val 10000" name="adj"/>
            </a:avLst>
          </a:prstGeom>
          <a:solidFill>
            <a:srgbClr val="E76F51">
              <a:alpha val="941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1016000" y="8229600"/>
            <a:ext cx="1371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76F5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Всичко това работи локално — без облак, без API ключове!</a:t>
            </a:r>
            <a:endParaRPr b="0" i="0" sz="1600" u="none" cap="none" strike="noStrike"/>
          </a:p>
        </p:txBody>
      </p:sp>
      <p:sp>
        <p:nvSpPr>
          <p:cNvPr id="83" name="Google Shape;83;p3"/>
          <p:cNvSpPr/>
          <p:nvPr/>
        </p:nvSpPr>
        <p:spPr>
          <a:xfrm>
            <a:off x="14986000" y="87630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279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b="0" i="0" sz="1600" u="none" cap="none" strike="noStrike"/>
          </a:p>
        </p:txBody>
      </p:sp>
      <p:sp>
        <p:nvSpPr>
          <p:cNvPr id="84" name="Google Shape;84;p3"/>
          <p:cNvSpPr/>
          <p:nvPr/>
        </p:nvSpPr>
        <p:spPr>
          <a:xfrm>
            <a:off x="11346741" y="1765908"/>
            <a:ext cx="2384947" cy="332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BABAB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requierments.txt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AE0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"/>
          <p:cNvSpPr/>
          <p:nvPr/>
        </p:nvSpPr>
        <p:spPr>
          <a:xfrm>
            <a:off x="762000" y="508000"/>
            <a:ext cx="7620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D6A4F"/>
                </a:solidFill>
                <a:latin typeface="Liter"/>
                <a:ea typeface="Liter"/>
                <a:cs typeface="Liter"/>
                <a:sym typeface="Liter"/>
              </a:rPr>
              <a:t>Толкова е просто!</a:t>
            </a:r>
            <a:endParaRPr b="0" i="0" sz="3600" u="none" cap="none" strike="noStrike"/>
          </a:p>
        </p:txBody>
      </p:sp>
      <p:sp>
        <p:nvSpPr>
          <p:cNvPr id="91" name="Google Shape;91;p4"/>
          <p:cNvSpPr/>
          <p:nvPr/>
        </p:nvSpPr>
        <p:spPr>
          <a:xfrm>
            <a:off x="762000" y="1206500"/>
            <a:ext cx="1016000" cy="508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762000" y="1587500"/>
            <a:ext cx="558800" cy="55880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762000" y="1587500"/>
            <a:ext cx="5588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EFAE0"/>
                </a:solidFill>
                <a:latin typeface="Liter"/>
                <a:ea typeface="Liter"/>
                <a:cs typeface="Liter"/>
                <a:sym typeface="Liter"/>
              </a:rPr>
              <a:t>1</a:t>
            </a:r>
            <a:endParaRPr b="0" i="0" sz="1600" u="none" cap="none" strike="noStrike"/>
          </a:p>
        </p:txBody>
      </p:sp>
      <p:sp>
        <p:nvSpPr>
          <p:cNvPr id="94" name="Google Shape;94;p4"/>
          <p:cNvSpPr/>
          <p:nvPr/>
        </p:nvSpPr>
        <p:spPr>
          <a:xfrm>
            <a:off x="1524000" y="1549400"/>
            <a:ext cx="711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B4332"/>
                </a:solidFill>
                <a:latin typeface="Liter"/>
                <a:ea typeface="Liter"/>
                <a:cs typeface="Liter"/>
                <a:sym typeface="Liter"/>
              </a:rPr>
              <a:t>Качваш снимка на хранителен етикет</a:t>
            </a:r>
            <a:endParaRPr b="0" i="0" sz="1600" u="none" cap="none" strike="noStrike"/>
          </a:p>
        </p:txBody>
      </p:sp>
      <p:sp>
        <p:nvSpPr>
          <p:cNvPr id="95" name="Google Shape;95;p4"/>
          <p:cNvSpPr/>
          <p:nvPr/>
        </p:nvSpPr>
        <p:spPr>
          <a:xfrm>
            <a:off x="1524000" y="1968500"/>
            <a:ext cx="7112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279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Снимаш с телефона или качваш готова снимка</a:t>
            </a:r>
            <a:endParaRPr b="0" i="0" sz="1600" u="none" cap="none" strike="noStrike"/>
          </a:p>
        </p:txBody>
      </p:sp>
      <p:sp>
        <p:nvSpPr>
          <p:cNvPr id="96" name="Google Shape;96;p4"/>
          <p:cNvSpPr/>
          <p:nvPr/>
        </p:nvSpPr>
        <p:spPr>
          <a:xfrm>
            <a:off x="762000" y="2603500"/>
            <a:ext cx="558800" cy="55880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762000" y="2603500"/>
            <a:ext cx="5588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EFAE0"/>
                </a:solidFill>
                <a:latin typeface="Liter"/>
                <a:ea typeface="Liter"/>
                <a:cs typeface="Liter"/>
                <a:sym typeface="Liter"/>
              </a:rPr>
              <a:t>2</a:t>
            </a:r>
            <a:endParaRPr b="0" i="0" sz="1600" u="none" cap="none" strike="noStrike"/>
          </a:p>
        </p:txBody>
      </p:sp>
      <p:sp>
        <p:nvSpPr>
          <p:cNvPr id="98" name="Google Shape;98;p4"/>
          <p:cNvSpPr/>
          <p:nvPr/>
        </p:nvSpPr>
        <p:spPr>
          <a:xfrm>
            <a:off x="1524000" y="2565400"/>
            <a:ext cx="711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B4332"/>
                </a:solidFill>
                <a:latin typeface="Liter"/>
                <a:ea typeface="Liter"/>
                <a:cs typeface="Liter"/>
                <a:sym typeface="Liter"/>
              </a:rPr>
              <a:t>AI-то извлича текста автоматично</a:t>
            </a:r>
            <a:endParaRPr b="0" i="0" sz="1600" u="none" cap="none" strike="noStrike"/>
          </a:p>
        </p:txBody>
      </p:sp>
      <p:sp>
        <p:nvSpPr>
          <p:cNvPr id="99" name="Google Shape;99;p4"/>
          <p:cNvSpPr/>
          <p:nvPr/>
        </p:nvSpPr>
        <p:spPr>
          <a:xfrm>
            <a:off x="1524000" y="2984500"/>
            <a:ext cx="7112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279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EasyOCR разпознава всички съставки от снимката</a:t>
            </a:r>
            <a:endParaRPr b="0" i="0" sz="1600" u="none" cap="none" strike="noStrike"/>
          </a:p>
        </p:txBody>
      </p:sp>
      <p:sp>
        <p:nvSpPr>
          <p:cNvPr id="100" name="Google Shape;100;p4"/>
          <p:cNvSpPr/>
          <p:nvPr/>
        </p:nvSpPr>
        <p:spPr>
          <a:xfrm>
            <a:off x="762000" y="3619500"/>
            <a:ext cx="558800" cy="55880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762000" y="3619500"/>
            <a:ext cx="5588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EFAE0"/>
                </a:solidFill>
                <a:latin typeface="Liter"/>
                <a:ea typeface="Liter"/>
                <a:cs typeface="Liter"/>
                <a:sym typeface="Liter"/>
              </a:rPr>
              <a:t>3</a:t>
            </a:r>
            <a:endParaRPr b="0" i="0" sz="1600" u="none" cap="none" strike="noStrike"/>
          </a:p>
        </p:txBody>
      </p:sp>
      <p:sp>
        <p:nvSpPr>
          <p:cNvPr id="102" name="Google Shape;102;p4"/>
          <p:cNvSpPr/>
          <p:nvPr/>
        </p:nvSpPr>
        <p:spPr>
          <a:xfrm>
            <a:off x="1524000" y="3581400"/>
            <a:ext cx="711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B4332"/>
                </a:solidFill>
                <a:latin typeface="Liter"/>
                <a:ea typeface="Liter"/>
                <a:cs typeface="Liter"/>
                <a:sym typeface="Liter"/>
              </a:rPr>
              <a:t>Системата сканира за вредни съставки</a:t>
            </a:r>
            <a:endParaRPr b="0" i="0" sz="1600" u="none" cap="none" strike="noStrike"/>
          </a:p>
        </p:txBody>
      </p:sp>
      <p:sp>
        <p:nvSpPr>
          <p:cNvPr id="103" name="Google Shape;103;p4"/>
          <p:cNvSpPr/>
          <p:nvPr/>
        </p:nvSpPr>
        <p:spPr>
          <a:xfrm>
            <a:off x="1524000" y="4000500"/>
            <a:ext cx="7112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279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Сравнява с база данни от опасни добавки</a:t>
            </a:r>
            <a:endParaRPr b="0" i="0" sz="1600" u="none" cap="none" strike="noStrike"/>
          </a:p>
        </p:txBody>
      </p:sp>
      <p:sp>
        <p:nvSpPr>
          <p:cNvPr id="104" name="Google Shape;104;p4"/>
          <p:cNvSpPr/>
          <p:nvPr/>
        </p:nvSpPr>
        <p:spPr>
          <a:xfrm>
            <a:off x="762000" y="4635500"/>
            <a:ext cx="558800" cy="55880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762000" y="4635500"/>
            <a:ext cx="5588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EFAE0"/>
                </a:solidFill>
                <a:latin typeface="Liter"/>
                <a:ea typeface="Liter"/>
                <a:cs typeface="Liter"/>
                <a:sym typeface="Liter"/>
              </a:rPr>
              <a:t>4</a:t>
            </a:r>
            <a:endParaRPr b="0" i="0" sz="1600" u="none" cap="none" strike="noStrike"/>
          </a:p>
        </p:txBody>
      </p:sp>
      <p:sp>
        <p:nvSpPr>
          <p:cNvPr id="106" name="Google Shape;106;p4"/>
          <p:cNvSpPr/>
          <p:nvPr/>
        </p:nvSpPr>
        <p:spPr>
          <a:xfrm>
            <a:off x="1524000" y="4597400"/>
            <a:ext cx="711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B4332"/>
                </a:solidFill>
                <a:latin typeface="Liter"/>
                <a:ea typeface="Liter"/>
                <a:cs typeface="Liter"/>
                <a:sym typeface="Liter"/>
              </a:rPr>
              <a:t>Получаваш цветна оценка:</a:t>
            </a:r>
            <a:endParaRPr b="0" i="0" sz="1600" u="none" cap="none" strike="noStrike"/>
          </a:p>
        </p:txBody>
      </p:sp>
      <p:sp>
        <p:nvSpPr>
          <p:cNvPr id="107" name="Google Shape;107;p4"/>
          <p:cNvSpPr/>
          <p:nvPr/>
        </p:nvSpPr>
        <p:spPr>
          <a:xfrm>
            <a:off x="1524000" y="5080000"/>
            <a:ext cx="203200" cy="203200"/>
          </a:xfrm>
          <a:prstGeom prst="ellipse">
            <a:avLst/>
          </a:prstGeom>
          <a:solidFill>
            <a:srgbClr val="E170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1803400" y="50165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279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Опасни Е-та</a:t>
            </a:r>
            <a:endParaRPr b="0" i="0" sz="1600" u="none" cap="none" strike="noStrike"/>
          </a:p>
        </p:txBody>
      </p:sp>
      <p:sp>
        <p:nvSpPr>
          <p:cNvPr id="109" name="Google Shape;109;p4"/>
          <p:cNvSpPr/>
          <p:nvPr/>
        </p:nvSpPr>
        <p:spPr>
          <a:xfrm>
            <a:off x="3327400" y="5080000"/>
            <a:ext cx="203200" cy="203200"/>
          </a:xfrm>
          <a:prstGeom prst="ellipse">
            <a:avLst/>
          </a:prstGeom>
          <a:solidFill>
            <a:srgbClr val="FDCB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3606800" y="5016500"/>
            <a:ext cx="1143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279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Проблемни</a:t>
            </a:r>
            <a:endParaRPr b="0" i="0" sz="1600" u="none" cap="none" strike="noStrike"/>
          </a:p>
        </p:txBody>
      </p:sp>
      <p:sp>
        <p:nvSpPr>
          <p:cNvPr id="111" name="Google Shape;111;p4"/>
          <p:cNvSpPr/>
          <p:nvPr/>
        </p:nvSpPr>
        <p:spPr>
          <a:xfrm>
            <a:off x="4876800" y="5080000"/>
            <a:ext cx="203200" cy="203200"/>
          </a:xfrm>
          <a:prstGeom prst="ellipse">
            <a:avLst/>
          </a:prstGeom>
          <a:solidFill>
            <a:srgbClr val="00B8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5156200" y="5016500"/>
            <a:ext cx="1143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279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Безопасно</a:t>
            </a:r>
            <a:endParaRPr b="0" i="0" sz="1600" u="none" cap="none" strike="noStrike"/>
          </a:p>
        </p:txBody>
      </p:sp>
      <p:sp>
        <p:nvSpPr>
          <p:cNvPr id="113" name="Google Shape;113;p4"/>
          <p:cNvSpPr/>
          <p:nvPr/>
        </p:nvSpPr>
        <p:spPr>
          <a:xfrm>
            <a:off x="762000" y="5715000"/>
            <a:ext cx="558800" cy="55880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762000" y="5715000"/>
            <a:ext cx="5588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EFAE0"/>
                </a:solidFill>
                <a:latin typeface="Liter"/>
                <a:ea typeface="Liter"/>
                <a:cs typeface="Liter"/>
                <a:sym typeface="Liter"/>
              </a:rPr>
              <a:t>5</a:t>
            </a:r>
            <a:endParaRPr b="0" i="0" sz="1600" u="none" cap="none" strike="noStrike"/>
          </a:p>
        </p:txBody>
      </p:sp>
      <p:sp>
        <p:nvSpPr>
          <p:cNvPr id="115" name="Google Shape;115;p4"/>
          <p:cNvSpPr/>
          <p:nvPr/>
        </p:nvSpPr>
        <p:spPr>
          <a:xfrm>
            <a:off x="1524000" y="5676900"/>
            <a:ext cx="711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B4332"/>
                </a:solidFill>
                <a:latin typeface="Liter"/>
                <a:ea typeface="Liter"/>
                <a:cs typeface="Liter"/>
                <a:sym typeface="Liter"/>
              </a:rPr>
              <a:t>Виждаш здравословни алтернативи</a:t>
            </a:r>
            <a:endParaRPr b="0" i="0" sz="1600" u="none" cap="none" strike="noStrike"/>
          </a:p>
        </p:txBody>
      </p:sp>
      <p:sp>
        <p:nvSpPr>
          <p:cNvPr id="116" name="Google Shape;116;p4"/>
          <p:cNvSpPr/>
          <p:nvPr/>
        </p:nvSpPr>
        <p:spPr>
          <a:xfrm>
            <a:off x="1524000" y="6096000"/>
            <a:ext cx="7112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279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Предложения за по-добри заместители</a:t>
            </a:r>
            <a:endParaRPr b="0" i="0" sz="1600" u="none" cap="none" strike="noStrike"/>
          </a:p>
        </p:txBody>
      </p:sp>
      <p:pic>
        <p:nvPicPr>
          <p:cNvPr descr="https://kimi-img.moonshot.cn/pub/slides/okc/qgp7gcoft4u7a/mnt/agents/output/converted/images/image_2.png" id="117" name="Google Shape;117;p4"/>
          <p:cNvPicPr preferRelativeResize="0"/>
          <p:nvPr/>
        </p:nvPicPr>
        <p:blipFill rotWithShape="1">
          <a:blip r:embed="rId3">
            <a:alphaModFix/>
          </a:blip>
          <a:srcRect b="0" l="18000" r="18000" t="0"/>
          <a:stretch/>
        </p:blipFill>
        <p:spPr>
          <a:xfrm>
            <a:off x="9398000" y="1397000"/>
            <a:ext cx="6096000" cy="63500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sp>
        <p:nvSpPr>
          <p:cNvPr id="118" name="Google Shape;118;p4"/>
          <p:cNvSpPr/>
          <p:nvPr/>
        </p:nvSpPr>
        <p:spPr>
          <a:xfrm>
            <a:off x="14986000" y="86360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279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AE0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"/>
          <p:cNvSpPr/>
          <p:nvPr/>
        </p:nvSpPr>
        <p:spPr>
          <a:xfrm>
            <a:off x="762000" y="508000"/>
            <a:ext cx="7620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D6A4F"/>
                </a:solidFill>
                <a:latin typeface="Liter"/>
                <a:ea typeface="Liter"/>
                <a:cs typeface="Liter"/>
                <a:sym typeface="Liter"/>
              </a:rPr>
              <a:t>Какво показва накрая?</a:t>
            </a:r>
            <a:endParaRPr b="0" i="0" sz="3600" u="none" cap="none" strike="noStrike"/>
          </a:p>
        </p:txBody>
      </p:sp>
      <p:sp>
        <p:nvSpPr>
          <p:cNvPr id="125" name="Google Shape;125;p5"/>
          <p:cNvSpPr/>
          <p:nvPr/>
        </p:nvSpPr>
        <p:spPr>
          <a:xfrm>
            <a:off x="762000" y="1206500"/>
            <a:ext cx="1016000" cy="508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762000" y="152400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2796F"/>
                </a:solidFill>
                <a:latin typeface="Liter"/>
                <a:ea typeface="Liter"/>
                <a:cs typeface="Liter"/>
                <a:sym typeface="Liter"/>
              </a:rPr>
              <a:t>Примерен етикет на шунка</a:t>
            </a:r>
            <a:endParaRPr b="0" i="0" sz="1600" u="none" cap="none" strike="noStrike"/>
          </a:p>
        </p:txBody>
      </p:sp>
      <p:pic>
        <p:nvPicPr>
          <p:cNvPr descr="https://kimi-img.moonshot.cn/pub/slides/okc/qgp7gcoft4u7a/mnt/agents/output/converted/images/image_3.png" id="127" name="Google Shape;127;p5"/>
          <p:cNvPicPr preferRelativeResize="0"/>
          <p:nvPr/>
        </p:nvPicPr>
        <p:blipFill rotWithShape="1">
          <a:blip r:embed="rId3">
            <a:alphaModFix/>
          </a:blip>
          <a:srcRect b="0" l="-19185" r="-19185" t="0"/>
          <a:stretch/>
        </p:blipFill>
        <p:spPr>
          <a:xfrm>
            <a:off x="762000" y="2095500"/>
            <a:ext cx="6858000" cy="6096000"/>
          </a:xfrm>
          <a:prstGeom prst="roundRect">
            <a:avLst>
              <a:gd fmla="val 6000" name="adj"/>
            </a:avLst>
          </a:prstGeom>
          <a:noFill/>
          <a:ln>
            <a:noFill/>
          </a:ln>
        </p:spPr>
      </p:pic>
      <p:sp>
        <p:nvSpPr>
          <p:cNvPr id="128" name="Google Shape;128;p5"/>
          <p:cNvSpPr/>
          <p:nvPr/>
        </p:nvSpPr>
        <p:spPr>
          <a:xfrm>
            <a:off x="8636000" y="152400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D6A4F"/>
                </a:solidFill>
                <a:latin typeface="Liter"/>
                <a:ea typeface="Liter"/>
                <a:cs typeface="Liter"/>
                <a:sym typeface="Liter"/>
              </a:rPr>
              <a:t>След използване на скенера</a:t>
            </a:r>
            <a:endParaRPr b="0" i="0" sz="1600" u="none" cap="none" strike="noStrike"/>
          </a:p>
        </p:txBody>
      </p:sp>
      <p:pic>
        <p:nvPicPr>
          <p:cNvPr descr="https://kimi-img.moonshot.cn/pub/slides/okc/qgp7gcoft4u7a/mnt/agents/output/converted/images/image_4.png" id="129" name="Google Shape;129;p5"/>
          <p:cNvPicPr preferRelativeResize="0"/>
          <p:nvPr/>
        </p:nvPicPr>
        <p:blipFill rotWithShape="1">
          <a:blip r:embed="rId4">
            <a:alphaModFix/>
          </a:blip>
          <a:srcRect b="0" l="-7989" r="-7989" t="0"/>
          <a:stretch/>
        </p:blipFill>
        <p:spPr>
          <a:xfrm>
            <a:off x="8636000" y="2095500"/>
            <a:ext cx="6858000" cy="6096000"/>
          </a:xfrm>
          <a:prstGeom prst="roundRect">
            <a:avLst>
              <a:gd fmla="val 6000" name="adj"/>
            </a:avLst>
          </a:prstGeom>
          <a:noFill/>
          <a:ln>
            <a:noFill/>
          </a:ln>
        </p:spPr>
      </p:pic>
      <p:cxnSp>
        <p:nvCxnSpPr>
          <p:cNvPr id="130" name="Google Shape;130;p5"/>
          <p:cNvCxnSpPr/>
          <p:nvPr/>
        </p:nvCxnSpPr>
        <p:spPr>
          <a:xfrm>
            <a:off x="7924800" y="4699000"/>
            <a:ext cx="406400" cy="0"/>
          </a:xfrm>
          <a:prstGeom prst="straightConnector1">
            <a:avLst/>
          </a:prstGeom>
          <a:noFill/>
          <a:ln cap="flat" cmpd="sng" w="25400">
            <a:solidFill>
              <a:srgbClr val="2D6A4F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31" name="Google Shape;131;p5"/>
          <p:cNvSpPr/>
          <p:nvPr/>
        </p:nvSpPr>
        <p:spPr>
          <a:xfrm>
            <a:off x="14986000" y="86360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279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B4332"/>
            </a:gs>
            <a:gs pos="100000">
              <a:srgbClr val="2D6A4F"/>
            </a:gs>
          </a:gsLst>
          <a:lin ang="8100000" scaled="0"/>
        </a:gra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"/>
          <p:cNvSpPr/>
          <p:nvPr/>
        </p:nvSpPr>
        <p:spPr>
          <a:xfrm>
            <a:off x="0" y="0"/>
            <a:ext cx="1905000" cy="1905000"/>
          </a:xfrm>
          <a:prstGeom prst="ellipse">
            <a:avLst/>
          </a:prstGeom>
          <a:solidFill>
            <a:srgbClr val="95D5B2">
              <a:alpha val="823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14351000" y="6858000"/>
            <a:ext cx="1905000" cy="1905000"/>
          </a:xfrm>
          <a:prstGeom prst="ellipse">
            <a:avLst/>
          </a:prstGeom>
          <a:solidFill>
            <a:srgbClr val="E76F51">
              <a:alpha val="705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6858000" y="3302000"/>
            <a:ext cx="2540000" cy="5080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2413000" y="3683000"/>
            <a:ext cx="11430000" cy="8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EFAE0"/>
                </a:solidFill>
                <a:latin typeface="Liter"/>
                <a:ea typeface="Liter"/>
                <a:cs typeface="Liter"/>
                <a:sym typeface="Liter"/>
              </a:rPr>
              <a:t>Благодаря за вниманието!</a:t>
            </a:r>
            <a:endParaRPr b="0" i="0" sz="1600" u="none" cap="none" strike="noStrike"/>
          </a:p>
        </p:txBody>
      </p:sp>
      <p:sp>
        <p:nvSpPr>
          <p:cNvPr id="141" name="Google Shape;141;p6"/>
          <p:cNvSpPr/>
          <p:nvPr/>
        </p:nvSpPr>
        <p:spPr>
          <a:xfrm>
            <a:off x="6858000" y="4953000"/>
            <a:ext cx="2540000" cy="5080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2026-05-17T18:08:55Z</dcterms:created>
  <dc:creator>Kimi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{"Label":"Скенер на етикети","ContentProducer":"001191110108MACG2KBH8F10000","ProduceID":"19e36ce3-f442-80ce-8000-00008dfe8bb1","ReservedCode1":"","ContentPropagator":"001191110108MACG2KBH8F20000","PropagateID":"19e36ce3-f442-80ce-8000-00008dfe8bb1","ReservedCode2":""}</vt:lpwstr>
  </property>
</Properties>
</file>